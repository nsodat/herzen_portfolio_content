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904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99942" y="1486614"/>
            <a:ext cx="7716917" cy="32823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462"/>
              </a:lnSpc>
              <a:buNone/>
            </a:pPr>
            <a:r>
              <a:rPr lang="en-US" sz="5170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Ведущие производители систем управления базами данных (СУБД)</a:t>
            </a:r>
            <a:endParaRPr lang="en-US" sz="5170" dirty="0"/>
          </a:p>
        </p:txBody>
      </p:sp>
      <p:sp>
        <p:nvSpPr>
          <p:cNvPr id="6" name="Text 3"/>
          <p:cNvSpPr/>
          <p:nvPr/>
        </p:nvSpPr>
        <p:spPr>
          <a:xfrm>
            <a:off x="6199942" y="5054322"/>
            <a:ext cx="7716917" cy="11415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48"/>
              </a:lnSpc>
              <a:buNone/>
            </a:pPr>
            <a:r>
              <a:rPr lang="en-US" sz="1498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Данная презентация посвящена ключевым игрокам на рынке систем управления базами данных (СУБД) и их влиянию на индустрию информационных технологий. Мы рассмотрим историю развития СУБД, проанализируем ключевые компании и их продукты, а также обсудим тренды и прогнозы на будущее.</a:t>
            </a:r>
            <a:endParaRPr lang="en-US" sz="1498" dirty="0"/>
          </a:p>
        </p:txBody>
      </p:sp>
      <p:sp>
        <p:nvSpPr>
          <p:cNvPr id="7" name="Shape 4"/>
          <p:cNvSpPr/>
          <p:nvPr/>
        </p:nvSpPr>
        <p:spPr>
          <a:xfrm>
            <a:off x="6199942" y="6424255"/>
            <a:ext cx="304443" cy="304443"/>
          </a:xfrm>
          <a:prstGeom prst="roundRect">
            <a:avLst>
              <a:gd name="adj" fmla="val 3003217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99515" y="6409968"/>
            <a:ext cx="2335173" cy="3330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22"/>
              </a:lnSpc>
              <a:buNone/>
            </a:pPr>
            <a:r>
              <a:rPr lang="en-US" sz="1873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Шульга Евгений</a:t>
            </a:r>
            <a:endParaRPr lang="en-US" sz="187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982" y="754975"/>
            <a:ext cx="6807279" cy="6748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15"/>
              </a:lnSpc>
              <a:buNone/>
            </a:pPr>
            <a:r>
              <a:rPr lang="en-US" sz="4252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Исторический контекст</a:t>
            </a:r>
            <a:endParaRPr lang="en-US" sz="4252" dirty="0"/>
          </a:p>
        </p:txBody>
      </p:sp>
      <p:sp>
        <p:nvSpPr>
          <p:cNvPr id="6" name="Shape 3"/>
          <p:cNvSpPr/>
          <p:nvPr/>
        </p:nvSpPr>
        <p:spPr>
          <a:xfrm>
            <a:off x="1112401" y="1753791"/>
            <a:ext cx="43101" cy="5720834"/>
          </a:xfrm>
          <a:prstGeom prst="rect">
            <a:avLst/>
          </a:prstGeom>
          <a:solidFill>
            <a:srgbClr val="CDCDCA"/>
          </a:solidFill>
          <a:ln/>
        </p:spPr>
      </p:sp>
      <p:sp>
        <p:nvSpPr>
          <p:cNvPr id="7" name="Shape 4"/>
          <p:cNvSpPr/>
          <p:nvPr/>
        </p:nvSpPr>
        <p:spPr>
          <a:xfrm>
            <a:off x="1376898" y="2218015"/>
            <a:ext cx="755928" cy="43101"/>
          </a:xfrm>
          <a:prstGeom prst="rect">
            <a:avLst/>
          </a:prstGeom>
          <a:solidFill>
            <a:srgbClr val="CDCDCA"/>
          </a:solidFill>
          <a:ln/>
        </p:spPr>
      </p:sp>
      <p:sp>
        <p:nvSpPr>
          <p:cNvPr id="8" name="Shape 5"/>
          <p:cNvSpPr/>
          <p:nvPr/>
        </p:nvSpPr>
        <p:spPr>
          <a:xfrm>
            <a:off x="891004" y="1996678"/>
            <a:ext cx="485894" cy="485894"/>
          </a:xfrm>
          <a:prstGeom prst="roundRect">
            <a:avLst>
              <a:gd name="adj" fmla="val 26672"/>
            </a:avLst>
          </a:prstGeom>
          <a:solidFill>
            <a:srgbClr val="E1DBD0"/>
          </a:solidFill>
          <a:ln/>
        </p:spPr>
      </p:sp>
      <p:sp>
        <p:nvSpPr>
          <p:cNvPr id="9" name="Text 6"/>
          <p:cNvSpPr/>
          <p:nvPr/>
        </p:nvSpPr>
        <p:spPr>
          <a:xfrm>
            <a:off x="1039951" y="2077641"/>
            <a:ext cx="187881" cy="32396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51"/>
              </a:lnSpc>
              <a:buNone/>
            </a:pPr>
            <a:r>
              <a:rPr lang="en-US" sz="2551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551" dirty="0"/>
          </a:p>
        </p:txBody>
      </p:sp>
      <p:sp>
        <p:nvSpPr>
          <p:cNvPr id="10" name="Text 7"/>
          <p:cNvSpPr/>
          <p:nvPr/>
        </p:nvSpPr>
        <p:spPr>
          <a:xfrm>
            <a:off x="2321838" y="1969770"/>
            <a:ext cx="2699980" cy="33754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57"/>
              </a:lnSpc>
              <a:buNone/>
            </a:pPr>
            <a:r>
              <a:rPr lang="en-US" sz="2126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Ранние годы</a:t>
            </a:r>
            <a:endParaRPr lang="en-US" sz="2126" dirty="0"/>
          </a:p>
        </p:txBody>
      </p:sp>
      <p:sp>
        <p:nvSpPr>
          <p:cNvPr id="11" name="Text 8"/>
          <p:cNvSpPr/>
          <p:nvPr/>
        </p:nvSpPr>
        <p:spPr>
          <a:xfrm>
            <a:off x="2321838" y="2436852"/>
            <a:ext cx="7840980" cy="971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551"/>
              </a:lnSpc>
              <a:buNone/>
            </a:pPr>
            <a:r>
              <a:rPr lang="en-US" sz="170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Первые СУБД появились в 1960-х годах, например, IBM's IMS (Information Management System). Они были ориентированы на обработку транзакций и управление данными в крупных корпорациях.</a:t>
            </a:r>
            <a:endParaRPr lang="en-US" sz="1701" dirty="0"/>
          </a:p>
        </p:txBody>
      </p:sp>
      <p:sp>
        <p:nvSpPr>
          <p:cNvPr id="12" name="Shape 9"/>
          <p:cNvSpPr/>
          <p:nvPr/>
        </p:nvSpPr>
        <p:spPr>
          <a:xfrm>
            <a:off x="1376898" y="4304943"/>
            <a:ext cx="755928" cy="43101"/>
          </a:xfrm>
          <a:prstGeom prst="rect">
            <a:avLst/>
          </a:prstGeom>
          <a:solidFill>
            <a:srgbClr val="CDCDCA"/>
          </a:solidFill>
          <a:ln/>
        </p:spPr>
      </p:sp>
      <p:sp>
        <p:nvSpPr>
          <p:cNvPr id="13" name="Shape 10"/>
          <p:cNvSpPr/>
          <p:nvPr/>
        </p:nvSpPr>
        <p:spPr>
          <a:xfrm>
            <a:off x="891004" y="4083606"/>
            <a:ext cx="485894" cy="485894"/>
          </a:xfrm>
          <a:prstGeom prst="roundRect">
            <a:avLst>
              <a:gd name="adj" fmla="val 26672"/>
            </a:avLst>
          </a:prstGeom>
          <a:solidFill>
            <a:srgbClr val="E1DBD0"/>
          </a:solidFill>
          <a:ln/>
        </p:spPr>
      </p:sp>
      <p:sp>
        <p:nvSpPr>
          <p:cNvPr id="14" name="Text 11"/>
          <p:cNvSpPr/>
          <p:nvPr/>
        </p:nvSpPr>
        <p:spPr>
          <a:xfrm>
            <a:off x="1039951" y="4164568"/>
            <a:ext cx="187881" cy="32396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51"/>
              </a:lnSpc>
              <a:buNone/>
            </a:pPr>
            <a:r>
              <a:rPr lang="en-US" sz="2551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551" dirty="0"/>
          </a:p>
        </p:txBody>
      </p:sp>
      <p:sp>
        <p:nvSpPr>
          <p:cNvPr id="15" name="Text 12"/>
          <p:cNvSpPr/>
          <p:nvPr/>
        </p:nvSpPr>
        <p:spPr>
          <a:xfrm>
            <a:off x="2321838" y="4056698"/>
            <a:ext cx="3856315" cy="33754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57"/>
              </a:lnSpc>
              <a:buNone/>
            </a:pPr>
            <a:r>
              <a:rPr lang="en-US" sz="2126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Реляционные базы данных</a:t>
            </a:r>
            <a:endParaRPr lang="en-US" sz="2126" dirty="0"/>
          </a:p>
        </p:txBody>
      </p:sp>
      <p:sp>
        <p:nvSpPr>
          <p:cNvPr id="16" name="Text 13"/>
          <p:cNvSpPr/>
          <p:nvPr/>
        </p:nvSpPr>
        <p:spPr>
          <a:xfrm>
            <a:off x="2321838" y="4523780"/>
            <a:ext cx="7840980" cy="64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551"/>
              </a:lnSpc>
              <a:buNone/>
            </a:pPr>
            <a:r>
              <a:rPr lang="en-US" sz="170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 1970-х годах Эдгар Кodd ввел концепцию реляционных баз данных (РБД), что привело к появлению таких систем, как Oracle, DB2 и SQL Server.</a:t>
            </a:r>
            <a:endParaRPr lang="en-US" sz="1701" dirty="0"/>
          </a:p>
        </p:txBody>
      </p:sp>
      <p:sp>
        <p:nvSpPr>
          <p:cNvPr id="17" name="Shape 14"/>
          <p:cNvSpPr/>
          <p:nvPr/>
        </p:nvSpPr>
        <p:spPr>
          <a:xfrm>
            <a:off x="1376898" y="6067901"/>
            <a:ext cx="755928" cy="43101"/>
          </a:xfrm>
          <a:prstGeom prst="rect">
            <a:avLst/>
          </a:prstGeom>
          <a:solidFill>
            <a:srgbClr val="CDCDCA"/>
          </a:solidFill>
          <a:ln/>
        </p:spPr>
      </p:sp>
      <p:sp>
        <p:nvSpPr>
          <p:cNvPr id="18" name="Shape 15"/>
          <p:cNvSpPr/>
          <p:nvPr/>
        </p:nvSpPr>
        <p:spPr>
          <a:xfrm>
            <a:off x="891004" y="5846564"/>
            <a:ext cx="485894" cy="485894"/>
          </a:xfrm>
          <a:prstGeom prst="roundRect">
            <a:avLst>
              <a:gd name="adj" fmla="val 26672"/>
            </a:avLst>
          </a:prstGeom>
          <a:solidFill>
            <a:srgbClr val="E1DBD0"/>
          </a:solidFill>
          <a:ln/>
        </p:spPr>
      </p:sp>
      <p:sp>
        <p:nvSpPr>
          <p:cNvPr id="19" name="Text 16"/>
          <p:cNvSpPr/>
          <p:nvPr/>
        </p:nvSpPr>
        <p:spPr>
          <a:xfrm>
            <a:off x="1039951" y="5927527"/>
            <a:ext cx="187881" cy="32396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51"/>
              </a:lnSpc>
              <a:buNone/>
            </a:pPr>
            <a:r>
              <a:rPr lang="en-US" sz="2551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551" dirty="0"/>
          </a:p>
        </p:txBody>
      </p:sp>
      <p:sp>
        <p:nvSpPr>
          <p:cNvPr id="20" name="Text 17"/>
          <p:cNvSpPr/>
          <p:nvPr/>
        </p:nvSpPr>
        <p:spPr>
          <a:xfrm>
            <a:off x="2321838" y="5819656"/>
            <a:ext cx="2754511" cy="33754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57"/>
              </a:lnSpc>
              <a:buNone/>
            </a:pPr>
            <a:r>
              <a:rPr lang="en-US" sz="2126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Современные СУБД</a:t>
            </a:r>
            <a:endParaRPr lang="en-US" sz="2126" dirty="0"/>
          </a:p>
        </p:txBody>
      </p:sp>
      <p:sp>
        <p:nvSpPr>
          <p:cNvPr id="21" name="Text 18"/>
          <p:cNvSpPr/>
          <p:nvPr/>
        </p:nvSpPr>
        <p:spPr>
          <a:xfrm>
            <a:off x="2321838" y="6286738"/>
            <a:ext cx="7840980" cy="971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551"/>
              </a:lnSpc>
              <a:buNone/>
            </a:pPr>
            <a:r>
              <a:rPr lang="en-US" sz="170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Современные СУБД, такие как NoSQL и cloud-native базы данных, отвечают потребностям больших данных, масштабируемости и высокой производительности.</a:t>
            </a:r>
            <a:endParaRPr lang="en-US" sz="170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772245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Oracle Corporation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0220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Обзор компании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3591401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Oracle Corporation - один из крупнейших разработчиков программного обеспечения, известный своими СУБД. Компания была основана в 1977 году и с тех пор стала лидером на рынке.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022044"/>
            <a:ext cx="3016091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Ключевые продукты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743932" y="3591401"/>
            <a:ext cx="3156347" cy="2666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Oracle Database - ведущая СУБД, известная своей надежностью, функциональностью и масштабируемостью. MySQL - популярная open-source СУБД, особенно для веб-разработки.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0220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Инновации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449872" y="3591401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Oracle известна своими инновациями в области СУБД, включая технологии in-memory computing, автоматизированное управление и облачные решения.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037749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Microsoft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426375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1DBD0"/>
          </a:solidFill>
          <a:ln/>
        </p:spPr>
      </p:sp>
      <p:sp>
        <p:nvSpPr>
          <p:cNvPr id="6" name="Text 4"/>
          <p:cNvSpPr/>
          <p:nvPr/>
        </p:nvSpPr>
        <p:spPr>
          <a:xfrm>
            <a:off x="2191226" y="2509718"/>
            <a:ext cx="19335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2760107" y="2426375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Продукты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2760107" y="2906792"/>
            <a:ext cx="4444008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Microsoft предлагает широкий спектр СУБД, включая SQL Server для on-premises решений и Azure SQL Database для облачных платформ.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6285" y="2426375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1DBD0"/>
          </a:solidFill>
          <a:ln/>
        </p:spPr>
      </p:sp>
      <p:sp>
        <p:nvSpPr>
          <p:cNvPr id="10" name="Text 8"/>
          <p:cNvSpPr/>
          <p:nvPr/>
        </p:nvSpPr>
        <p:spPr>
          <a:xfrm>
            <a:off x="7579519" y="2509718"/>
            <a:ext cx="19335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9"/>
          <p:cNvSpPr/>
          <p:nvPr/>
        </p:nvSpPr>
        <p:spPr>
          <a:xfrm>
            <a:off x="8148399" y="2426375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Особенности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8148399" y="2906792"/>
            <a:ext cx="4444008" cy="199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 Server известен своей интеграцией с другими продуктами Microsoft, например, Windows и .NET. Azure SQL Database обеспечивает масштабируемость и доступность в облаке.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2037993" y="5378410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1DBD0"/>
          </a:solidFill>
          <a:ln/>
        </p:spPr>
      </p:sp>
      <p:sp>
        <p:nvSpPr>
          <p:cNvPr id="14" name="Text 12"/>
          <p:cNvSpPr/>
          <p:nvPr/>
        </p:nvSpPr>
        <p:spPr>
          <a:xfrm>
            <a:off x="2191226" y="5461754"/>
            <a:ext cx="19335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3"/>
          <p:cNvSpPr/>
          <p:nvPr/>
        </p:nvSpPr>
        <p:spPr>
          <a:xfrm>
            <a:off x="2760107" y="5378410"/>
            <a:ext cx="2787729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Рыночное влияние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2760107" y="5858828"/>
            <a:ext cx="4444008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Microsoft является одним из ведущих игроков на рынке СУБД, особенно в сегменте корпоративных решений.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6285" y="5378410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E1DBD0"/>
          </a:solidFill>
          <a:ln/>
        </p:spPr>
      </p:sp>
      <p:sp>
        <p:nvSpPr>
          <p:cNvPr id="18" name="Text 16"/>
          <p:cNvSpPr/>
          <p:nvPr/>
        </p:nvSpPr>
        <p:spPr>
          <a:xfrm>
            <a:off x="7579519" y="5461754"/>
            <a:ext cx="193358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24"/>
              </a:lnSpc>
              <a:buNone/>
            </a:pPr>
            <a:r>
              <a:rPr lang="en-US" sz="2624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624" dirty="0"/>
          </a:p>
        </p:txBody>
      </p:sp>
      <p:sp>
        <p:nvSpPr>
          <p:cNvPr id="19" name="Text 17"/>
          <p:cNvSpPr/>
          <p:nvPr/>
        </p:nvSpPr>
        <p:spPr>
          <a:xfrm>
            <a:off x="8148399" y="5378410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Новые технологии</a:t>
            </a:r>
            <a:endParaRPr lang="en-US" sz="2187" dirty="0"/>
          </a:p>
        </p:txBody>
      </p:sp>
      <p:sp>
        <p:nvSpPr>
          <p:cNvPr id="20" name="Text 18"/>
          <p:cNvSpPr/>
          <p:nvPr/>
        </p:nvSpPr>
        <p:spPr>
          <a:xfrm>
            <a:off x="8148399" y="5858828"/>
            <a:ext cx="4444008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Microsoft активно развивает новые технологии в области СУБД, включая машинное обучение и аналитику данных.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009888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IBM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148602"/>
            <a:ext cx="5166122" cy="2591038"/>
          </a:xfrm>
          <a:prstGeom prst="roundRect">
            <a:avLst>
              <a:gd name="adj" fmla="val 5145"/>
            </a:avLst>
          </a:prstGeom>
          <a:solidFill>
            <a:srgbClr val="E1DBD0"/>
          </a:solidFill>
          <a:ln/>
        </p:spPr>
      </p:sp>
      <p:sp>
        <p:nvSpPr>
          <p:cNvPr id="6" name="Text 4"/>
          <p:cNvSpPr/>
          <p:nvPr/>
        </p:nvSpPr>
        <p:spPr>
          <a:xfrm>
            <a:off x="2260163" y="237077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История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260163" y="2851190"/>
            <a:ext cx="472178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IBM имеет богатую историю в разработке СУБД, начиная с IMS в 1960-х годах. Компания является одним из пионеров в области реляционных баз данных с DB2.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148602"/>
            <a:ext cx="5166122" cy="2591038"/>
          </a:xfrm>
          <a:prstGeom prst="roundRect">
            <a:avLst>
              <a:gd name="adj" fmla="val 5145"/>
            </a:avLst>
          </a:prstGeom>
          <a:solidFill>
            <a:srgbClr val="E1DBD0"/>
          </a:solidFill>
          <a:ln/>
        </p:spPr>
      </p:sp>
      <p:sp>
        <p:nvSpPr>
          <p:cNvPr id="9" name="Text 7"/>
          <p:cNvSpPr/>
          <p:nvPr/>
        </p:nvSpPr>
        <p:spPr>
          <a:xfrm>
            <a:off x="7648456" y="237077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Продукты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48456" y="2851190"/>
            <a:ext cx="4721781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DB2 - широко используемая СУБД для корпоративных решений. Informix - СУБД с высокой производительностью, используемая для аналитики данных и транзакций.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4961811"/>
            <a:ext cx="5166122" cy="2257782"/>
          </a:xfrm>
          <a:prstGeom prst="roundRect">
            <a:avLst>
              <a:gd name="adj" fmla="val 5905"/>
            </a:avLst>
          </a:prstGeom>
          <a:solidFill>
            <a:srgbClr val="E1DBD0"/>
          </a:solidFill>
          <a:ln/>
        </p:spPr>
      </p:sp>
      <p:sp>
        <p:nvSpPr>
          <p:cNvPr id="12" name="Text 10"/>
          <p:cNvSpPr/>
          <p:nvPr/>
        </p:nvSpPr>
        <p:spPr>
          <a:xfrm>
            <a:off x="2260163" y="518398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Инновации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260163" y="5664398"/>
            <a:ext cx="472178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IBM известна своими инновациями в области СУБД, включая технологии in-memory computing, распределенные базы данных и управление большими данными.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961811"/>
            <a:ext cx="5166122" cy="2257782"/>
          </a:xfrm>
          <a:prstGeom prst="roundRect">
            <a:avLst>
              <a:gd name="adj" fmla="val 5905"/>
            </a:avLst>
          </a:prstGeom>
          <a:solidFill>
            <a:srgbClr val="E1DBD0"/>
          </a:solidFill>
          <a:ln/>
        </p:spPr>
      </p:sp>
      <p:sp>
        <p:nvSpPr>
          <p:cNvPr id="15" name="Text 13"/>
          <p:cNvSpPr/>
          <p:nvPr/>
        </p:nvSpPr>
        <p:spPr>
          <a:xfrm>
            <a:off x="7648456" y="5183981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Вклад в отрасль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48456" y="5664398"/>
            <a:ext cx="472178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IBM сделала значительный вклад в развитие стандартов СУБД и продвижение отрасли в целом.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sp>
        <p:nvSpPr>
          <p:cNvPr id="4" name="Text 2"/>
          <p:cNvSpPr/>
          <p:nvPr/>
        </p:nvSpPr>
        <p:spPr>
          <a:xfrm>
            <a:off x="2651165" y="540663"/>
            <a:ext cx="4909423" cy="61352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32"/>
              </a:lnSpc>
              <a:buNone/>
            </a:pPr>
            <a:r>
              <a:rPr lang="en-US" sz="3866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SAP</a:t>
            </a:r>
            <a:endParaRPr lang="en-US" sz="3866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165" y="1546860"/>
            <a:ext cx="490895" cy="49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51165" y="2234089"/>
            <a:ext cx="2110978" cy="3068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16"/>
              </a:lnSpc>
              <a:buNone/>
            </a:pPr>
            <a:r>
              <a:rPr lang="en-US" sz="1933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SAP HANA</a:t>
            </a:r>
            <a:endParaRPr lang="en-US" sz="1933" dirty="0"/>
          </a:p>
        </p:txBody>
      </p:sp>
      <p:sp>
        <p:nvSpPr>
          <p:cNvPr id="7" name="Text 4"/>
          <p:cNvSpPr/>
          <p:nvPr/>
        </p:nvSpPr>
        <p:spPr>
          <a:xfrm>
            <a:off x="2651165" y="2658666"/>
            <a:ext cx="2110978" cy="35332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19"/>
              </a:lnSpc>
              <a:buNone/>
            </a:pPr>
            <a:r>
              <a:rPr lang="en-US" sz="1546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SAP HANA - in-memory СУБД, известная своей высокой производительностью и возможностями аналитики в реальном времени. Она используется для решения задач аналитики и управления бизнес-процессами.</a:t>
            </a:r>
            <a:endParaRPr lang="en-US" sz="15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703" y="1546860"/>
            <a:ext cx="490895" cy="4908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56703" y="2234089"/>
            <a:ext cx="2111097" cy="613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16"/>
              </a:lnSpc>
              <a:buNone/>
            </a:pPr>
            <a:r>
              <a:rPr lang="en-US" sz="1933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SAP Adaptive Server Enterprise</a:t>
            </a:r>
            <a:endParaRPr lang="en-US" sz="1933" dirty="0"/>
          </a:p>
        </p:txBody>
      </p:sp>
      <p:sp>
        <p:nvSpPr>
          <p:cNvPr id="10" name="Text 6"/>
          <p:cNvSpPr/>
          <p:nvPr/>
        </p:nvSpPr>
        <p:spPr>
          <a:xfrm>
            <a:off x="5056703" y="2965490"/>
            <a:ext cx="2111097" cy="35332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19"/>
              </a:lnSpc>
              <a:buNone/>
            </a:pPr>
            <a:r>
              <a:rPr lang="en-US" sz="1546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SAP ASE - СУБД, ориентированная на корпоративные решения с высоким уровнем производительности и надежности. Она широко используется в системах планирования ресурсов предприятия (ERP).</a:t>
            </a:r>
            <a:endParaRPr lang="en-US" sz="1546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361" y="1546860"/>
            <a:ext cx="490895" cy="4908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62361" y="2234089"/>
            <a:ext cx="2111097" cy="92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16"/>
              </a:lnSpc>
              <a:buNone/>
            </a:pPr>
            <a:r>
              <a:rPr lang="en-US" sz="1933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Интеграция с бизнес-процессами</a:t>
            </a:r>
            <a:endParaRPr lang="en-US" sz="1933" dirty="0"/>
          </a:p>
        </p:txBody>
      </p:sp>
      <p:sp>
        <p:nvSpPr>
          <p:cNvPr id="13" name="Text 8"/>
          <p:cNvSpPr/>
          <p:nvPr/>
        </p:nvSpPr>
        <p:spPr>
          <a:xfrm>
            <a:off x="7462361" y="3272314"/>
            <a:ext cx="2111097" cy="44166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19"/>
              </a:lnSpc>
              <a:buNone/>
            </a:pPr>
            <a:r>
              <a:rPr lang="en-US" sz="1546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Продукты SAP тесно интегрированы с бизнес-процессами и системами планирования ресурсов предприятия. Они предоставляют решения для управления финансами, закупками, производством и другими ключевыми областями.</a:t>
            </a:r>
            <a:endParaRPr lang="en-US" sz="1546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8019" y="1546860"/>
            <a:ext cx="490895" cy="4908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68019" y="2234089"/>
            <a:ext cx="2111097" cy="613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16"/>
              </a:lnSpc>
              <a:buNone/>
            </a:pPr>
            <a:r>
              <a:rPr lang="en-US" sz="1933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Рыночное влияние</a:t>
            </a:r>
            <a:endParaRPr lang="en-US" sz="1933" dirty="0"/>
          </a:p>
        </p:txBody>
      </p:sp>
      <p:sp>
        <p:nvSpPr>
          <p:cNvPr id="16" name="Text 10"/>
          <p:cNvSpPr/>
          <p:nvPr/>
        </p:nvSpPr>
        <p:spPr>
          <a:xfrm>
            <a:off x="9868019" y="2965490"/>
            <a:ext cx="2111097" cy="2355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19"/>
              </a:lnSpc>
              <a:buNone/>
            </a:pPr>
            <a:r>
              <a:rPr lang="en-US" sz="1546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SAP является крупным игроком на рынке СУБД, особенно в сегменте корпоративных решений для управления бизнес-процессами.</a:t>
            </a:r>
            <a:endParaRPr lang="en-US" sz="154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41983"/>
          </a:xfrm>
          <a:prstGeom prst="rect">
            <a:avLst/>
          </a:prstGeom>
          <a:solidFill>
            <a:srgbClr val="EFECE6"/>
          </a:solidFill>
          <a:ln/>
        </p:spPr>
      </p:sp>
      <p:sp>
        <p:nvSpPr>
          <p:cNvPr id="4" name="Text 2"/>
          <p:cNvSpPr/>
          <p:nvPr/>
        </p:nvSpPr>
        <p:spPr>
          <a:xfrm>
            <a:off x="3036332" y="495419"/>
            <a:ext cx="4504015" cy="5629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433"/>
              </a:lnSpc>
              <a:buNone/>
            </a:pPr>
            <a:r>
              <a:rPr lang="en-US" sz="3546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Source СУБД</a:t>
            </a:r>
            <a:endParaRPr lang="en-US" sz="3546" dirty="0"/>
          </a:p>
        </p:txBody>
      </p:sp>
      <p:sp>
        <p:nvSpPr>
          <p:cNvPr id="5" name="Shape 3"/>
          <p:cNvSpPr/>
          <p:nvPr/>
        </p:nvSpPr>
        <p:spPr>
          <a:xfrm>
            <a:off x="3036332" y="1418630"/>
            <a:ext cx="8556665" cy="501372"/>
          </a:xfrm>
          <a:prstGeom prst="rect">
            <a:avLst/>
          </a:prstGeom>
          <a:solidFill>
            <a:srgbClr val="E1DBD0"/>
          </a:solidFill>
          <a:ln/>
        </p:spPr>
      </p:sp>
      <p:sp>
        <p:nvSpPr>
          <p:cNvPr id="6" name="Text 4"/>
          <p:cNvSpPr/>
          <p:nvPr/>
        </p:nvSpPr>
        <p:spPr>
          <a:xfrm>
            <a:off x="3217426" y="1534239"/>
            <a:ext cx="2487811" cy="27015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Название</a:t>
            </a:r>
            <a:endParaRPr lang="en-US" sz="1419" dirty="0"/>
          </a:p>
        </p:txBody>
      </p:sp>
      <p:sp>
        <p:nvSpPr>
          <p:cNvPr id="7" name="Text 5"/>
          <p:cNvSpPr/>
          <p:nvPr/>
        </p:nvSpPr>
        <p:spPr>
          <a:xfrm>
            <a:off x="6073140" y="1534239"/>
            <a:ext cx="2484001" cy="27015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Описание</a:t>
            </a:r>
            <a:endParaRPr lang="en-US" sz="1419" dirty="0"/>
          </a:p>
        </p:txBody>
      </p:sp>
      <p:sp>
        <p:nvSpPr>
          <p:cNvPr id="8" name="Text 6"/>
          <p:cNvSpPr/>
          <p:nvPr/>
        </p:nvSpPr>
        <p:spPr>
          <a:xfrm>
            <a:off x="8925044" y="1534239"/>
            <a:ext cx="2487811" cy="27015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Применение</a:t>
            </a:r>
            <a:endParaRPr lang="en-US" sz="1419" dirty="0"/>
          </a:p>
        </p:txBody>
      </p:sp>
      <p:sp>
        <p:nvSpPr>
          <p:cNvPr id="9" name="Text 7"/>
          <p:cNvSpPr/>
          <p:nvPr/>
        </p:nvSpPr>
        <p:spPr>
          <a:xfrm>
            <a:off x="3217426" y="2035612"/>
            <a:ext cx="2487811" cy="27015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PostgreSQL</a:t>
            </a:r>
            <a:endParaRPr lang="en-US" sz="1419" dirty="0"/>
          </a:p>
        </p:txBody>
      </p:sp>
      <p:sp>
        <p:nvSpPr>
          <p:cNvPr id="10" name="Text 8"/>
          <p:cNvSpPr/>
          <p:nvPr/>
        </p:nvSpPr>
        <p:spPr>
          <a:xfrm>
            <a:off x="6073140" y="2035612"/>
            <a:ext cx="2484001" cy="1891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Популярная open-source СУБД, известная своей надежностью и функциональностью. Она поддерживает SQL и предлагает широкий набор функций.</a:t>
            </a:r>
            <a:endParaRPr lang="en-US" sz="1419" dirty="0"/>
          </a:p>
        </p:txBody>
      </p:sp>
      <p:sp>
        <p:nvSpPr>
          <p:cNvPr id="11" name="Text 9"/>
          <p:cNvSpPr/>
          <p:nvPr/>
        </p:nvSpPr>
        <p:spPr>
          <a:xfrm>
            <a:off x="8925044" y="2035612"/>
            <a:ext cx="2487811" cy="810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Веб-разработка, корпоративные решения, аналитика данных</a:t>
            </a:r>
            <a:endParaRPr lang="en-US" sz="1419" dirty="0"/>
          </a:p>
        </p:txBody>
      </p:sp>
      <p:sp>
        <p:nvSpPr>
          <p:cNvPr id="12" name="Shape 10"/>
          <p:cNvSpPr/>
          <p:nvPr/>
        </p:nvSpPr>
        <p:spPr>
          <a:xfrm>
            <a:off x="3036332" y="4042291"/>
            <a:ext cx="8556665" cy="2122289"/>
          </a:xfrm>
          <a:prstGeom prst="rect">
            <a:avLst/>
          </a:prstGeom>
          <a:solidFill>
            <a:srgbClr val="E1DBD0"/>
          </a:solidFill>
          <a:ln/>
        </p:spPr>
      </p:sp>
      <p:sp>
        <p:nvSpPr>
          <p:cNvPr id="13" name="Text 11"/>
          <p:cNvSpPr/>
          <p:nvPr/>
        </p:nvSpPr>
        <p:spPr>
          <a:xfrm>
            <a:off x="3217426" y="4157901"/>
            <a:ext cx="2487811" cy="27015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MongoDB</a:t>
            </a:r>
            <a:endParaRPr lang="en-US" sz="1419" dirty="0"/>
          </a:p>
        </p:txBody>
      </p:sp>
      <p:sp>
        <p:nvSpPr>
          <p:cNvPr id="14" name="Text 12"/>
          <p:cNvSpPr/>
          <p:nvPr/>
        </p:nvSpPr>
        <p:spPr>
          <a:xfrm>
            <a:off x="6073140" y="4157901"/>
            <a:ext cx="2484001" cy="1891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NoSQL СУБД, ориентированная на документообразные данные. Она предоставляет высокую производительность и масштабируемость.</a:t>
            </a:r>
            <a:endParaRPr lang="en-US" sz="1419" dirty="0"/>
          </a:p>
        </p:txBody>
      </p:sp>
      <p:sp>
        <p:nvSpPr>
          <p:cNvPr id="15" name="Text 13"/>
          <p:cNvSpPr/>
          <p:nvPr/>
        </p:nvSpPr>
        <p:spPr>
          <a:xfrm>
            <a:off x="8925044" y="4157901"/>
            <a:ext cx="2487811" cy="810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Веб-разработка, мобильные приложения, большие данные</a:t>
            </a:r>
            <a:endParaRPr lang="en-US" sz="1419" dirty="0"/>
          </a:p>
        </p:txBody>
      </p:sp>
      <p:sp>
        <p:nvSpPr>
          <p:cNvPr id="16" name="Text 14"/>
          <p:cNvSpPr/>
          <p:nvPr/>
        </p:nvSpPr>
        <p:spPr>
          <a:xfrm>
            <a:off x="3217426" y="6280190"/>
            <a:ext cx="2487811" cy="27015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MySQL</a:t>
            </a:r>
            <a:endParaRPr lang="en-US" sz="1419" dirty="0"/>
          </a:p>
        </p:txBody>
      </p:sp>
      <p:sp>
        <p:nvSpPr>
          <p:cNvPr id="17" name="Text 15"/>
          <p:cNvSpPr/>
          <p:nvPr/>
        </p:nvSpPr>
        <p:spPr>
          <a:xfrm>
            <a:off x="6073140" y="6280190"/>
            <a:ext cx="2484001" cy="1350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Open-source СУБД, известная своей простотой использования и широким применением в веб-разработке.</a:t>
            </a:r>
            <a:endParaRPr lang="en-US" sz="1419" dirty="0"/>
          </a:p>
        </p:txBody>
      </p:sp>
      <p:sp>
        <p:nvSpPr>
          <p:cNvPr id="18" name="Text 16"/>
          <p:cNvSpPr/>
          <p:nvPr/>
        </p:nvSpPr>
        <p:spPr>
          <a:xfrm>
            <a:off x="8925044" y="6280190"/>
            <a:ext cx="2487811" cy="1080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419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Веб-разработка, CMS, приложения с большим количеством пользователей</a:t>
            </a:r>
            <a:endParaRPr lang="en-US" sz="141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4630400" cy="8229600"/>
          </a:xfrm>
          <a:prstGeom prst="roundRect">
            <a:avLst>
              <a:gd name="adj" fmla="val 1620"/>
            </a:avLst>
          </a:prstGeom>
          <a:solidFill>
            <a:srgbClr val="EFECE6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037993" y="1139071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Анализ рынка</a:t>
            </a:r>
            <a:endParaRPr lang="en-US" sz="4374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993" y="2166699"/>
            <a:ext cx="3518059" cy="8886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60163" y="338863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Доля рынка</a:t>
            </a:r>
            <a:endParaRPr lang="en-US" sz="2187" dirty="0"/>
          </a:p>
        </p:txBody>
      </p:sp>
      <p:sp>
        <p:nvSpPr>
          <p:cNvPr id="9" name="Text 5"/>
          <p:cNvSpPr/>
          <p:nvPr/>
        </p:nvSpPr>
        <p:spPr>
          <a:xfrm>
            <a:off x="2260163" y="3869055"/>
            <a:ext cx="3073718" cy="2666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Oracle, Microsoft и IBM являются ведущими игроками на рынке СУБД, занимая значительную долю рынка. Open-source СУБД, такие как PostgreSQL и MongoDB, также получают популярность.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6052" y="2166699"/>
            <a:ext cx="3518178" cy="8886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78222" y="338863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Тренды</a:t>
            </a:r>
            <a:endParaRPr lang="en-US" sz="2187" dirty="0"/>
          </a:p>
        </p:txBody>
      </p:sp>
      <p:sp>
        <p:nvSpPr>
          <p:cNvPr id="12" name="Text 7"/>
          <p:cNvSpPr/>
          <p:nvPr/>
        </p:nvSpPr>
        <p:spPr>
          <a:xfrm>
            <a:off x="5778222" y="3869055"/>
            <a:ext cx="3073837" cy="29993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Рынок СУБД характеризуется трендами на cloud-native решения, машинное обучение и аналитику данных. Все больше компаний переходят на облачные решения для управления данными.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229" y="2166699"/>
            <a:ext cx="3518178" cy="8886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96400" y="338863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Прогнозы</a:t>
            </a:r>
            <a:endParaRPr lang="en-US" sz="2187" dirty="0"/>
          </a:p>
        </p:txBody>
      </p:sp>
      <p:sp>
        <p:nvSpPr>
          <p:cNvPr id="15" name="Text 9"/>
          <p:cNvSpPr/>
          <p:nvPr/>
        </p:nvSpPr>
        <p:spPr>
          <a:xfrm>
            <a:off x="9296400" y="3869055"/>
            <a:ext cx="3073837" cy="2666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Ожидается, что рынок СУБД будет расти в будущем, поддерживаемый ростом объемов данных и потребностей в аналитике. Облачные решения будут играть все более важную роль в этом сегменте.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712244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Заключение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850958"/>
            <a:ext cx="10554414" cy="166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Ведущие производители СУБД играют ключевую роль в разработке и продвижении индустрии информационных технологий. Они предлагают широкий спектр решений, отвечающих потребностям разных сегментов рынка. В будущем ожидается дальнейшее развитие cloud-native решений, машинного обучения и аналитики данных, что приведет к появлению новых возможностей и инноваций в области СУБД.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Microsoft Office PowerPoint</Application>
  <PresentationFormat>Произвольный</PresentationFormat>
  <Paragraphs>82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Lato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HORRUS TH</cp:lastModifiedBy>
  <cp:revision>2</cp:revision>
  <dcterms:created xsi:type="dcterms:W3CDTF">2024-06-17T19:05:16Z</dcterms:created>
  <dcterms:modified xsi:type="dcterms:W3CDTF">2024-06-17T19:06:24Z</dcterms:modified>
</cp:coreProperties>
</file>