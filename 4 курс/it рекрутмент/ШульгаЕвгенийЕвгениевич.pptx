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4/20/2026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8BACF-A59C-4DBE-6FD1-62384D9B2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Шульга Евгений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B6CE27-AB48-2C8A-DA44-EC27EE33D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senior </a:t>
            </a:r>
            <a:r>
              <a:rPr lang="en-US" sz="2400" dirty="0" err="1"/>
              <a:t>aqa</a:t>
            </a:r>
            <a:r>
              <a:rPr lang="en-US" sz="2400" dirty="0"/>
              <a:t> </a:t>
            </a:r>
            <a:r>
              <a:rPr lang="ru-RU" sz="2400" dirty="0"/>
              <a:t>инженер</a:t>
            </a:r>
            <a:r>
              <a:rPr lang="en-US" sz="2400" dirty="0"/>
              <a:t> 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81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4E274-B123-2871-F360-3A862B23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14DAD5-1565-5E2B-C424-AEB992E3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ПРЕДСТАВЛЕНИЯ СОБСТВЕННОЙ КАНДИДАТУРЫ В КАЧЕСТВЕ ЧАСТИ ПРОДУКТОВОЙ КОМАНДЫ ПО ТЕСТИРОВАНИЮ</a:t>
            </a:r>
            <a:r>
              <a:rPr lang="en-US" dirty="0"/>
              <a:t> SaaS / On-premise </a:t>
            </a:r>
            <a:r>
              <a:rPr lang="ru-RU" dirty="0"/>
              <a:t>ПРИЛОЖЕНИЙ</a:t>
            </a:r>
          </a:p>
          <a:p>
            <a:r>
              <a:rPr lang="ru-RU" dirty="0"/>
              <a:t>УТВЕРЖДЕНИЕ НАВЫКОВ НЕОБХОДИМЫХ ДЛЯ ВЫПОЛНЕНИЯ ПРОФЕССИОНАЛЬНОЙ ДЕЯТЕЛЬНОСТИ В ОБЛАСТИ РУЧНОГО </a:t>
            </a:r>
            <a:r>
              <a:rPr lang="en-US" dirty="0"/>
              <a:t>/</a:t>
            </a:r>
            <a:r>
              <a:rPr lang="ru-RU" dirty="0"/>
              <a:t> АВТОМАТИЗИРОВАННОГО ТЕСТИРОВАНИЯ С ПРИМЕНЕНИЕМ БИБЛИОТЕК </a:t>
            </a:r>
            <a:r>
              <a:rPr lang="en-US" dirty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681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0D0A6-D594-F78C-B1E4-469FD859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 мне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A9CF24-03AF-92D5-8AC6-1788C69A2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 – </a:t>
            </a:r>
            <a:r>
              <a:rPr lang="en-US" dirty="0"/>
              <a:t>SENIOR automation quality assurance </a:t>
            </a:r>
            <a:r>
              <a:rPr lang="ru-RU" dirty="0"/>
              <a:t>инженер в </a:t>
            </a:r>
            <a:r>
              <a:rPr lang="ru-RU" dirty="0" err="1"/>
              <a:t>фин</a:t>
            </a:r>
            <a:r>
              <a:rPr lang="ru-RU" dirty="0"/>
              <a:t>-тех доменной области с опытом работы в кросс-функциональных командах, в частности в команде ядра банковского сектора. Работа представляла собой тестирование платежных документов, транзакций а также ограничений счетов клиентов от налоговых органов. </a:t>
            </a:r>
          </a:p>
          <a:p>
            <a:r>
              <a:rPr lang="ru-RU" dirty="0"/>
              <a:t>Имею высшее техническое образование по направлению «Информатика и вычислительная техника»</a:t>
            </a:r>
          </a:p>
          <a:p>
            <a:r>
              <a:rPr lang="ru-RU" dirty="0"/>
              <a:t>Обладаю навыками организации процессов в области «с нуля», могу выстроить архитектуру тестирования проекта любой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54472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7725B-8823-21EF-289F-5E1F3C05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навыки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41BD4-2F2E-A52E-ED50-74503DDA1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Frontend: HTML5, CSS3, JavaScript (ES6+), React.js, Redux, Vue.js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Backend: Node.js, Express, Python (Django)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Базы данных: </a:t>
            </a:r>
            <a:r>
              <a:rPr lang="en-US" b="0" i="0" dirty="0">
                <a:effectLst/>
                <a:latin typeface="quote-cjk-patch"/>
              </a:rPr>
              <a:t>PostgreSQL, MongoDB, CLICKHOUSE, REDDIS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Инструменты: </a:t>
            </a:r>
            <a:r>
              <a:rPr lang="en-US" b="0" i="0" dirty="0">
                <a:effectLst/>
                <a:latin typeface="quote-cjk-patch"/>
              </a:rPr>
              <a:t>Git, Webpack, Figma, Postman, KAFKA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Английский язык: </a:t>
            </a:r>
            <a:r>
              <a:rPr lang="en-US" b="0" i="0" dirty="0">
                <a:effectLst/>
                <a:latin typeface="quote-cjk-patch"/>
              </a:rPr>
              <a:t>B2 (Upper-Intermediate)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53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D0652-F04F-ADE6-7BE4-C47FA672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ОПЫТ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E0945-B1A8-F380-0C78-3E3FACD5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ozon</a:t>
            </a:r>
            <a:r>
              <a:rPr lang="en-US" dirty="0"/>
              <a:t> bank </a:t>
            </a:r>
            <a:r>
              <a:rPr lang="ru-RU" dirty="0"/>
              <a:t>Инженер по автоматизации тестирования Домен: </a:t>
            </a:r>
            <a:r>
              <a:rPr lang="ru-RU" dirty="0" err="1"/>
              <a:t>Финтех</a:t>
            </a:r>
            <a:r>
              <a:rPr lang="ru-RU" dirty="0"/>
              <a:t>, высоконагруженные банковские сервисы — операционно-платформенные задачи, связанные с ограничениями ФССП/ФНС, транзакциями и платежными документами. (2 года)</a:t>
            </a:r>
          </a:p>
          <a:p>
            <a:r>
              <a:rPr lang="ru-RU" dirty="0"/>
              <a:t>Стек технологий: </a:t>
            </a:r>
            <a:r>
              <a:rPr lang="en-US" dirty="0"/>
              <a:t>Python, </a:t>
            </a:r>
            <a:r>
              <a:rPr lang="en-US" dirty="0" err="1"/>
              <a:t>Pytest</a:t>
            </a:r>
            <a:r>
              <a:rPr lang="en-US" dirty="0"/>
              <a:t>, Requests, Selenium, Allure, </a:t>
            </a:r>
            <a:r>
              <a:rPr lang="en-US" dirty="0" err="1"/>
              <a:t>Pydantic</a:t>
            </a:r>
            <a:r>
              <a:rPr lang="en-US" dirty="0"/>
              <a:t>, </a:t>
            </a:r>
            <a:r>
              <a:rPr lang="en-US" dirty="0" err="1"/>
              <a:t>Parallelo</a:t>
            </a:r>
            <a:r>
              <a:rPr lang="en-US" dirty="0"/>
              <a:t>, REST API, </a:t>
            </a:r>
            <a:r>
              <a:rPr lang="en-US" dirty="0" err="1"/>
              <a:t>gRPC</a:t>
            </a:r>
            <a:r>
              <a:rPr lang="en-US" dirty="0"/>
              <a:t>, </a:t>
            </a:r>
            <a:r>
              <a:rPr lang="en-US" dirty="0" err="1"/>
              <a:t>GraphQL</a:t>
            </a:r>
            <a:r>
              <a:rPr lang="en-US" dirty="0"/>
              <a:t>, Linux, Git, GitLab CI/CD, Docker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b="1" dirty="0"/>
              <a:t>Достижения </a:t>
            </a:r>
          </a:p>
          <a:p>
            <a:r>
              <a:rPr lang="ru-RU" dirty="0"/>
              <a:t>Ускорение </a:t>
            </a:r>
            <a:r>
              <a:rPr lang="ru-RU" dirty="0" err="1"/>
              <a:t>тирдауна</a:t>
            </a:r>
            <a:r>
              <a:rPr lang="ru-RU" dirty="0"/>
              <a:t> на 17%: спроектировал и реализовал механизм параллельной очистки артефактов после выполнения автоматизированных сценариев, что сократило общее время и снизило </a:t>
            </a:r>
            <a:r>
              <a:rPr lang="ru-RU" dirty="0" err="1"/>
              <a:t>алерты</a:t>
            </a:r>
            <a:r>
              <a:rPr lang="ru-RU" dirty="0"/>
              <a:t> на разработку</a:t>
            </a:r>
          </a:p>
          <a:p>
            <a:r>
              <a:rPr lang="ru-RU" dirty="0"/>
              <a:t>Повышение </a:t>
            </a:r>
            <a:r>
              <a:rPr lang="ru-RU" dirty="0" err="1"/>
              <a:t>success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 с 80% до 94%: стабилизировал тесты платежных документов с приостановлениями за счёт перехода с </a:t>
            </a:r>
            <a:r>
              <a:rPr lang="ru-RU" dirty="0" err="1"/>
              <a:t>cron</a:t>
            </a:r>
            <a:r>
              <a:rPr lang="ru-RU" dirty="0"/>
              <a:t>-ручки на тестовую ручку для персональной обработки реестров выплат, упростил сценарии для более эффективного </a:t>
            </a:r>
            <a:r>
              <a:rPr lang="ru-RU" dirty="0" err="1"/>
              <a:t>дебага</a:t>
            </a:r>
            <a:r>
              <a:rPr lang="ru-RU" dirty="0"/>
              <a:t> на дежурствах</a:t>
            </a:r>
          </a:p>
        </p:txBody>
      </p:sp>
    </p:spTree>
    <p:extLst>
      <p:ext uri="{BB962C8B-B14F-4D97-AF65-F5344CB8AC3E}">
        <p14:creationId xmlns:p14="http://schemas.microsoft.com/office/powerpoint/2010/main" val="15282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E49F33-E799-86E3-A22A-F22F213A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Мое портфолио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D8942B-26F8-08A1-4AC6-48D4D7DAB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824" y="2093976"/>
            <a:ext cx="3412351" cy="3439870"/>
          </a:xfrm>
        </p:spPr>
      </p:pic>
    </p:spTree>
    <p:extLst>
      <p:ext uri="{BB962C8B-B14F-4D97-AF65-F5344CB8AC3E}">
        <p14:creationId xmlns:p14="http://schemas.microsoft.com/office/powerpoint/2010/main" val="22684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90A00-511C-60DA-5D27-C8B9AF42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Достижения и сертификаты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F218E-EBB5-2188-97D8-585ADDAD7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Блог на </a:t>
            </a:r>
            <a:r>
              <a:rPr lang="ru-RU" b="1" i="0" dirty="0" err="1">
                <a:effectLst/>
                <a:latin typeface="quote-cjk-patch"/>
              </a:rPr>
              <a:t>Medium</a:t>
            </a:r>
            <a:r>
              <a:rPr lang="ru-RU" b="1" i="0" dirty="0">
                <a:effectLst/>
                <a:latin typeface="quote-cjk-patch"/>
              </a:rPr>
              <a:t>: 5 статей по JavaScript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Рейтинг на </a:t>
            </a:r>
            <a:r>
              <a:rPr lang="ru-RU" b="1" i="0" dirty="0" err="1">
                <a:effectLst/>
                <a:latin typeface="quote-cjk-patch"/>
              </a:rPr>
              <a:t>Codewars</a:t>
            </a:r>
            <a:r>
              <a:rPr lang="ru-RU" b="1" i="0" dirty="0">
                <a:effectLst/>
                <a:latin typeface="quote-cjk-patch"/>
              </a:rPr>
              <a:t>: 4 </a:t>
            </a:r>
            <a:r>
              <a:rPr lang="ru-RU" b="1" i="0" dirty="0" err="1">
                <a:effectLst/>
                <a:latin typeface="quote-cjk-patch"/>
              </a:rPr>
              <a:t>kyu</a:t>
            </a:r>
            <a:endParaRPr lang="ru-RU" b="1" i="0" dirty="0"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04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289BE-C6FB-2516-9E4D-6E064C8E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effectLst/>
              </a:rPr>
              <a:t>Мои ценности как специалиста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E8DEA9-6270-96BF-1428-8F3DBB77B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Пишу чистый и документированный код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Соблюдаю принципы доступности (a11y) и </a:t>
            </a:r>
            <a:r>
              <a:rPr lang="ru-RU" b="0" i="0" dirty="0" err="1">
                <a:effectLst/>
                <a:latin typeface="quote-cjk-patch"/>
              </a:rPr>
              <a:t>кроссбраузерности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Стремлюсь к автоматизации тестирования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Делюсь знаниями с коллегами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159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539EF-4B0E-772F-2FD3-3A33710C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Почему я подхожу вашей компании</a:t>
            </a:r>
            <a:br>
              <a:rPr lang="ru-RU" b="1" dirty="0">
                <a:solidFill>
                  <a:schemeClr val="tx1"/>
                </a:solidFill>
                <a:effectLst/>
                <a:latin typeface="quote-cjk-patch"/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DE00A-7763-3AFE-D76D-2A6FBED2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Ваш проект в сфере онлайн-обучения близок мне (у меня есть опыт создания LMS-модуля)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Готов закрыть задачи по </a:t>
            </a:r>
            <a:r>
              <a:rPr lang="ru-RU" b="1" i="0" dirty="0" err="1">
                <a:effectLst/>
                <a:latin typeface="quote-cjk-patch"/>
              </a:rPr>
              <a:t>фронтенду</a:t>
            </a:r>
            <a:r>
              <a:rPr lang="ru-RU" b="1" i="0" dirty="0">
                <a:effectLst/>
                <a:latin typeface="quote-cjk-patch"/>
              </a:rPr>
              <a:t> и помогать с бэкендом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Быстро вхожу в существующий код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Ищу долгосрочное сотрудничество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83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C072A-5B4A-0ADD-5E9F-46A5BFF1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Спасибо за внимание!</a:t>
            </a:r>
            <a:br>
              <a:rPr lang="ru-RU" b="1" dirty="0">
                <a:solidFill>
                  <a:schemeClr val="tx1"/>
                </a:solidFill>
                <a:effectLst/>
                <a:latin typeface="quote-cjk-patch"/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803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{6F3F4AFC-3B88-49D9-BE9B-8861D5D19B5D}TF2ec419c9-97c3-4958-b02a-0886397d33afff5e1baa-c5eb14decf20</Template>
  <TotalTime>14</TotalTime>
  <Words>394</Words>
  <Application>Microsoft Office PowerPoint</Application>
  <PresentationFormat>Широкоэкранный</PresentationFormat>
  <Paragraphs>36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Cambria</vt:lpstr>
      <vt:lpstr>quote-cjk-patch</vt:lpstr>
      <vt:lpstr>Rockwell</vt:lpstr>
      <vt:lpstr>Rockwell Condensed</vt:lpstr>
      <vt:lpstr>Wingdings</vt:lpstr>
      <vt:lpstr>Дерево</vt:lpstr>
      <vt:lpstr>Шульга Евгений</vt:lpstr>
      <vt:lpstr>ЦЕЛЬ ПРЕЗЕНТАЦИИ</vt:lpstr>
      <vt:lpstr>Обо мне</vt:lpstr>
      <vt:lpstr>Ключевые навыки</vt:lpstr>
      <vt:lpstr>ОПЫТ РАБОТЫ</vt:lpstr>
      <vt:lpstr>Мое портфолио</vt:lpstr>
      <vt:lpstr>Достижения и сертификаты</vt:lpstr>
      <vt:lpstr>Мои ценности как специалиста</vt:lpstr>
      <vt:lpstr>Почему я подхожу вашей компании 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KOMPUTAR</dc:creator>
  <cp:lastModifiedBy>KOMPUTAR</cp:lastModifiedBy>
  <cp:revision>1</cp:revision>
  <dcterms:created xsi:type="dcterms:W3CDTF">2026-04-20T17:44:29Z</dcterms:created>
  <dcterms:modified xsi:type="dcterms:W3CDTF">2026-04-20T17:59:04Z</dcterms:modified>
</cp:coreProperties>
</file>