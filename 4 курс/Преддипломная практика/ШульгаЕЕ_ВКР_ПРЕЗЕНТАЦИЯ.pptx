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6" r:id="rId15"/>
    <p:sldId id="26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4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7608144D-0320-4710-8C13-D4C6969517A5}"/>
              </a:ext>
            </a:extLst>
          </p:cNvPr>
          <p:cNvGrpSpPr/>
          <p:nvPr userDrawn="1"/>
        </p:nvGrpSpPr>
        <p:grpSpPr>
          <a:xfrm>
            <a:off x="0" y="4347046"/>
            <a:ext cx="8458200" cy="979335"/>
            <a:chOff x="0" y="4347046"/>
            <a:chExt cx="8458200" cy="979335"/>
          </a:xfrm>
        </p:grpSpPr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54814A8B-1F21-4E23-AF07-3157714D37AB}"/>
                </a:ext>
              </a:extLst>
            </p:cNvPr>
            <p:cNvCxnSpPr/>
            <p:nvPr userDrawn="1"/>
          </p:nvCxnSpPr>
          <p:spPr>
            <a:xfrm>
              <a:off x="0" y="5326380"/>
              <a:ext cx="84582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587BBD89-34FC-42CE-B4AC-01A41F29E75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458200" y="4671060"/>
              <a:ext cx="0" cy="655321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CECCDC31-5DB9-41E3-9AEA-F1E0C635B55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39100" y="4347046"/>
              <a:ext cx="0" cy="324014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145638FF-9EF6-42C3-804A-C2F9852C82D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039100" y="4671060"/>
              <a:ext cx="417241" cy="0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FFCC0E-EE16-43D5-B30D-62880AB80499}"/>
              </a:ext>
            </a:extLst>
          </p:cNvPr>
          <p:cNvSpPr/>
          <p:nvPr userDrawn="1"/>
        </p:nvSpPr>
        <p:spPr>
          <a:xfrm>
            <a:off x="9509760" y="0"/>
            <a:ext cx="2682240" cy="685800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6A4E8-D438-42A4-BD28-74925D91B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21444"/>
            <a:ext cx="8564880" cy="156805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DE9F1C-30FF-4EB5-B813-A3A0C044E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404" y="1856978"/>
            <a:ext cx="8564880" cy="114529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AB1D94-B195-45A0-B289-DC05F420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A2115-4A10-4413-BBF4-CD02CDAF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3294A4-ED28-43DF-85A3-C3EDE2AD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3B2AE99-405E-4F65-8F7A-022EBDA7BC91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ACA5E3-81BB-4997-8C69-874C5BC362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839" y="2630324"/>
            <a:ext cx="2048681" cy="192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2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796DC-7939-4EE0-9FBD-0BA09212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40670-DA88-4E0C-B77A-6A5B9AF52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F9183E-58DC-4325-99B1-68D365D5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C5C2C-4D58-420C-ACBD-2EA108E9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DB7D54-0C24-4300-B0AB-E6F606FA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3D2F72-DC2E-491E-9F77-932D5E32053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EBCA3B-FB37-4224-AC68-6729BFA859A8}"/>
              </a:ext>
            </a:extLst>
          </p:cNvPr>
          <p:cNvSpPr/>
          <p:nvPr userDrawn="1"/>
        </p:nvSpPr>
        <p:spPr>
          <a:xfrm>
            <a:off x="0" y="6004560"/>
            <a:ext cx="12192000" cy="85344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60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796DC-7939-4EE0-9FBD-0BA09212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40670-DA88-4E0C-B77A-6A5B9AF52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F9183E-58DC-4325-99B1-68D365D5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C5C2C-4D58-420C-ACBD-2EA108E9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DB7D54-0C24-4300-B0AB-E6F606FA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3D2F72-DC2E-491E-9F77-932D5E32053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31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79BBFE-3128-4A13-9040-5EB54725D952}"/>
              </a:ext>
            </a:extLst>
          </p:cNvPr>
          <p:cNvSpPr/>
          <p:nvPr userDrawn="1"/>
        </p:nvSpPr>
        <p:spPr>
          <a:xfrm>
            <a:off x="0" y="0"/>
            <a:ext cx="2682240" cy="685800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796DC-7939-4EE0-9FBD-0BA09212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365125"/>
            <a:ext cx="77724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40670-DA88-4E0C-B77A-6A5B9AF52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0" y="1825625"/>
            <a:ext cx="7772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F9183E-58DC-4325-99B1-68D365D5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C5C2C-4D58-420C-ACBD-2EA108E9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DB7D54-0C24-4300-B0AB-E6F606FA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3D2F72-DC2E-491E-9F77-932D5E32053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49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796DC-7939-4EE0-9FBD-0BA09212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40670-DA88-4E0C-B77A-6A5B9AF52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F9183E-58DC-4325-99B1-68D365D5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C5C2C-4D58-420C-ACBD-2EA108E9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DB7D54-0C24-4300-B0AB-E6F606FA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3D2F72-DC2E-491E-9F77-932D5E32053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6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0295E-85A3-4A14-8B40-A0C16918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3A3227-015E-446F-89D1-BF99C1303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301E4D-C9DB-4ED2-9E62-EDD549AE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F0C6FE-B836-4948-9250-88EA8546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DA11FA-E8DE-4476-A89B-9F1DC1F6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30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24FA6-E1B7-4589-8702-E5788608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3C920D-0188-416C-94FE-1674E873B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0A8B77-E5BE-46C5-82A5-3D02547FE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78EDB7-C3BD-40F0-BDD0-15B324BE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620BC2-F34A-4466-80DB-62B502F7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272537-181C-4F7F-A7A1-DFF664AF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56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EA23F-9CC5-43E4-A2C2-7FF59143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5C1200-9385-4E02-A919-69EF282EF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3BA7B5-0CF0-4CE8-A36C-4B43CFCB6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90E828-39DC-40BF-868E-D53A9499E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5E61B3-1E42-40E0-9C2D-4D80C27CD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650B27-A2AA-45D1-BE7D-C7AA397E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2BA48A-F33E-4138-B9CD-F4D759A4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6808D8-13CD-48B3-9144-C06ED640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36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EFD7B-3055-45B6-B5F6-36A4D98C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2AAEAC-EBEC-4CB7-8898-C1648394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3002DB-6B85-4D53-9D66-77EE8932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B7563D-E99A-4B86-A9F2-8C27639B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52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84B8D6-86D5-451A-A3E2-3DD1FBAE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8D1D04-77B5-4E5F-8EBC-52E00CD2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14F274-152B-4DBC-B61F-60140C20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56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122CA-0C60-47AC-A75A-6E35C711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267D2C-078D-41A5-9EAD-7CA82DE3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7DC6CD-A726-48F4-B901-D5D8C3B93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1B97C4-39A0-4D9A-892E-796D00F8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CDDC01-5D4E-4ECC-9212-E4857639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7300A1-F1B5-4516-9657-EAE49A92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81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47F88-17C2-480E-B8D5-DCB2F3E2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AB3698E-AA02-4DB3-A339-2A662E19C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516AF9-5616-4264-9340-E0C223971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8E526B-B089-4CE2-BB50-23402195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7DAA6A-9CEF-4DD3-9EDC-99CB1FBF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6FDEC7-855E-4D63-AB76-16B8A63B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2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218B-1883-47A7-AFC2-911BD49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323BEF-896A-40F7-89D8-E50D6ECF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0FC09-4C55-4E0A-A615-D559B127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2589F8-0324-475D-B0E9-C1E4CC61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6047C2-2723-4BE5-BE9B-4BC6F25B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41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6CA8FC9-6E50-492B-A44A-1998CCD4D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8EE0BB-2121-45D0-BA2D-F09CE387D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1D998A-B76C-42AF-8263-6EAC7C3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84A8E-C58A-416A-A535-CF692A6B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1F85FF-22B0-483C-9370-20A2CC0A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45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53D55-8FF3-40D0-98A6-AE4801AC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71DF5C-B110-4F53-A43D-F9D15B16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7B3B29-D416-4A68-A5D7-DC3590737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B6081-8595-4622-831E-B8B38BE8CDCA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162F53-63C5-4C3A-A824-F9CA50D6E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304636-6304-4E4A-97A5-309D93891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77439-CC0D-4E34-A197-80651DA9280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A9D742FB-58D1-413A-B5AB-023C0F8FED5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A2BD80-ECB6-486E-A2BC-93E5479DBC53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8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58184-EB94-490F-A6D6-1A1509BAE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0"/>
            <a:ext cx="11076707" cy="1568055"/>
          </a:xfrm>
        </p:spPr>
        <p:txBody>
          <a:bodyPr>
            <a:normAutofit/>
          </a:bodyPr>
          <a:lstStyle/>
          <a:p>
            <a:pPr algn="l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4B2538-3A29-4628-99E2-FA8B5DF45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617798"/>
            <a:ext cx="7335982" cy="1145297"/>
          </a:xfrm>
        </p:spPr>
        <p:txBody>
          <a:bodyPr/>
          <a:lstStyle/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компьютерной игры стратегии с использованием ресурсов искусственного интеллекта посредством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Telegram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-бота</a:t>
            </a:r>
          </a:p>
          <a:p>
            <a:pPr algn="just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80FE121-82B5-496D-A75D-B13BEBDFE510}"/>
              </a:ext>
            </a:extLst>
          </p:cNvPr>
          <p:cNvCxnSpPr>
            <a:cxnSpLocks/>
          </p:cNvCxnSpPr>
          <p:nvPr/>
        </p:nvCxnSpPr>
        <p:spPr>
          <a:xfrm>
            <a:off x="532984" y="956828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FB9FD0-C975-629B-86E1-3AFF288A87CE}"/>
              </a:ext>
            </a:extLst>
          </p:cNvPr>
          <p:cNvSpPr/>
          <p:nvPr/>
        </p:nvSpPr>
        <p:spPr>
          <a:xfrm>
            <a:off x="-57728" y="2669309"/>
            <a:ext cx="9559635" cy="3370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выпускной квалификационной работы:</a:t>
            </a:r>
          </a:p>
          <a:p>
            <a:endParaRPr lang="ru-RU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</a:t>
            </a:r>
            <a:endParaRPr lang="ru-RU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Аксютин Павел Александрович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AFADD5-065E-E21F-9591-DC477988A9F3}"/>
              </a:ext>
            </a:extLst>
          </p:cNvPr>
          <p:cNvSpPr/>
          <p:nvPr/>
        </p:nvSpPr>
        <p:spPr>
          <a:xfrm>
            <a:off x="391161" y="2996681"/>
            <a:ext cx="54951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4 курса очной формы обучения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09.03.01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«Технологии разработки программного обеспечения» </a:t>
            </a:r>
            <a:endParaRPr lang="ru-RU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Шульга Евгений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Евгениевич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81420-7D04-D087-9CF6-16BD9E8DEB0F}"/>
              </a:ext>
            </a:extLst>
          </p:cNvPr>
          <p:cNvSpPr txBox="1"/>
          <p:nvPr/>
        </p:nvSpPr>
        <p:spPr>
          <a:xfrm>
            <a:off x="391161" y="4540634"/>
            <a:ext cx="99614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endParaRPr lang="ru-RU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</a:t>
            </a:r>
            <a:endParaRPr lang="ru-RU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Влассова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Елена Зотиковна</a:t>
            </a:r>
          </a:p>
        </p:txBody>
      </p:sp>
      <p:sp>
        <p:nvSpPr>
          <p:cNvPr id="9" name="Нижний колонтитул 7">
            <a:extLst>
              <a:ext uri="{FF2B5EF4-FFF2-40B4-BE49-F238E27FC236}">
                <a16:creationId xmlns:a16="http://schemas.microsoft.com/office/drawing/2014/main" id="{149838C2-A9DA-0AB2-0E49-724A7689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u-RU" dirty="0"/>
              <a:t>Санкт-Петербург 2026</a:t>
            </a:r>
          </a:p>
        </p:txBody>
      </p:sp>
    </p:spTree>
    <p:extLst>
      <p:ext uri="{BB962C8B-B14F-4D97-AF65-F5344CB8AC3E}">
        <p14:creationId xmlns:p14="http://schemas.microsoft.com/office/powerpoint/2010/main" val="66372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1A70C5-9160-4467-926E-8F4165AB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84" y="2583006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работы обусловлена активным развитием мессенджеров как универсальных платформ для предоставления цифровых сервисов, в том числе игровых приложений.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Telegram-боты позволяют создавать интерактивные программные продукты, не требующие установки отдельного программного обеспечения, что делает их удобными и доступными для широкого круга пользователей.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 перспективным направлением является разработка игровых систем, сочетающих простоту взаимодействия через мессенджер и современные технологии искусственного интеллекта.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E1DD212-63BF-4919-2BF3-1209A9AB1671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97A7582-5F32-7767-5F1D-32EA47D8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22" y="224156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72531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1A70C5-9160-4467-926E-8F4165AB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982641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работы являются методы, инструменты и подходы к разработке компьютерной игры в формате Telegram-бота с использованием ресурсов искусственного интеллекта.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Целью работы является разработка компьютерной игры на основе механики игры «Мафия», реализованной посредством Telegram-бота с использованием ресурсов искусственного интеллекта для генерации игрового сеттинга, персонажей и текстового сопровождения игрового процесса.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E1DD212-63BF-4919-2BF3-1209A9AB1671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97A7582-5F32-7767-5F1D-32EA47D8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22" y="224156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цель</a:t>
            </a:r>
          </a:p>
        </p:txBody>
      </p:sp>
    </p:spTree>
    <p:extLst>
      <p:ext uri="{BB962C8B-B14F-4D97-AF65-F5344CB8AC3E}">
        <p14:creationId xmlns:p14="http://schemas.microsoft.com/office/powerpoint/2010/main" val="279747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E676B6-BF2D-4E07-834A-4100386F9EF4}"/>
              </a:ext>
            </a:extLst>
          </p:cNvPr>
          <p:cNvSpPr/>
          <p:nvPr/>
        </p:nvSpPr>
        <p:spPr>
          <a:xfrm>
            <a:off x="565216" y="2357438"/>
            <a:ext cx="2411816" cy="28694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99E9CAE-009B-4539-A2CE-A165C0973B1A}"/>
              </a:ext>
            </a:extLst>
          </p:cNvPr>
          <p:cNvSpPr/>
          <p:nvPr/>
        </p:nvSpPr>
        <p:spPr>
          <a:xfrm>
            <a:off x="1394337" y="198653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64145-58E9-483F-B2F2-800EC1971E85}"/>
              </a:ext>
            </a:extLst>
          </p:cNvPr>
          <p:cNvSpPr txBox="1"/>
          <p:nvPr/>
        </p:nvSpPr>
        <p:spPr>
          <a:xfrm>
            <a:off x="1403863" y="198825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1557A0-B340-4EE5-9C65-0BF771F9E855}"/>
              </a:ext>
            </a:extLst>
          </p:cNvPr>
          <p:cNvSpPr/>
          <p:nvPr/>
        </p:nvSpPr>
        <p:spPr>
          <a:xfrm>
            <a:off x="3023605" y="2347617"/>
            <a:ext cx="2219436" cy="28694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992E9EF3-019D-4FAD-98C1-391F8B28444A}"/>
              </a:ext>
            </a:extLst>
          </p:cNvPr>
          <p:cNvSpPr txBox="1">
            <a:spLocks/>
          </p:cNvSpPr>
          <p:nvPr/>
        </p:nvSpPr>
        <p:spPr>
          <a:xfrm>
            <a:off x="3137655" y="2832513"/>
            <a:ext cx="2219436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систем аналогов и составление требований к разрабатываемому продукту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21CE481-6EAF-4821-A42F-5677883795CE}"/>
              </a:ext>
            </a:extLst>
          </p:cNvPr>
          <p:cNvSpPr/>
          <p:nvPr/>
        </p:nvSpPr>
        <p:spPr>
          <a:xfrm>
            <a:off x="3766610" y="2000234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1416A-22D7-4DA4-87F6-F29F27493D28}"/>
              </a:ext>
            </a:extLst>
          </p:cNvPr>
          <p:cNvSpPr txBox="1"/>
          <p:nvPr/>
        </p:nvSpPr>
        <p:spPr>
          <a:xfrm>
            <a:off x="3776773" y="198300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5AD1AE-B6D9-4A1D-9BDC-C3280C135377}"/>
              </a:ext>
            </a:extLst>
          </p:cNvPr>
          <p:cNvSpPr/>
          <p:nvPr/>
        </p:nvSpPr>
        <p:spPr>
          <a:xfrm>
            <a:off x="5300066" y="2347617"/>
            <a:ext cx="2108110" cy="28694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A4E156C-6D25-4696-8031-F405649ACDA5}"/>
              </a:ext>
            </a:extLst>
          </p:cNvPr>
          <p:cNvSpPr/>
          <p:nvPr/>
        </p:nvSpPr>
        <p:spPr>
          <a:xfrm>
            <a:off x="6033619" y="1996357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0ACDA-B863-4B70-B79D-4942D92C9B0F}"/>
              </a:ext>
            </a:extLst>
          </p:cNvPr>
          <p:cNvSpPr txBox="1"/>
          <p:nvPr/>
        </p:nvSpPr>
        <p:spPr>
          <a:xfrm>
            <a:off x="6041819" y="199436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500548F4-F788-4E4C-89F2-C6E674E8B96B}"/>
              </a:ext>
            </a:extLst>
          </p:cNvPr>
          <p:cNvSpPr txBox="1">
            <a:spLocks/>
          </p:cNvSpPr>
          <p:nvPr/>
        </p:nvSpPr>
        <p:spPr>
          <a:xfrm>
            <a:off x="5471141" y="2850372"/>
            <a:ext cx="2301729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telegram-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бота, </a:t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игровых механик</a:t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интерфейсов искусственного интеллекта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7642877-3716-4591-B62E-39836C5FC555}"/>
              </a:ext>
            </a:extLst>
          </p:cNvPr>
          <p:cNvSpPr txBox="1">
            <a:spLocks/>
          </p:cNvSpPr>
          <p:nvPr/>
        </p:nvSpPr>
        <p:spPr>
          <a:xfrm>
            <a:off x="668814" y="2850372"/>
            <a:ext cx="2411816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методов разработки компьютерной игры-стратегии с использованием ресурсов искусственного интеллекта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Нижний колонтитул 4">
            <a:extLst>
              <a:ext uri="{FF2B5EF4-FFF2-40B4-BE49-F238E27FC236}">
                <a16:creationId xmlns:a16="http://schemas.microsoft.com/office/drawing/2014/main" id="{C93B51D7-CFE9-4FAC-B8A0-F5B5E7D8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24F98C9-4E3F-8717-E84D-536AB1FB61A5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Заголовок 6">
            <a:extLst>
              <a:ext uri="{FF2B5EF4-FFF2-40B4-BE49-F238E27FC236}">
                <a16:creationId xmlns:a16="http://schemas.microsoft.com/office/drawing/2014/main" id="{446358A2-E40C-7A19-8FC1-C09AB955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22" y="224156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F2160FC-4FB6-B18D-0CE7-0C862C337BDA}"/>
              </a:ext>
            </a:extLst>
          </p:cNvPr>
          <p:cNvSpPr/>
          <p:nvPr/>
        </p:nvSpPr>
        <p:spPr>
          <a:xfrm>
            <a:off x="7482394" y="2357438"/>
            <a:ext cx="1964151" cy="28694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9615E2F4-CEBF-C7C9-C79B-EB8F41BB750E}"/>
              </a:ext>
            </a:extLst>
          </p:cNvPr>
          <p:cNvSpPr/>
          <p:nvPr/>
        </p:nvSpPr>
        <p:spPr>
          <a:xfrm>
            <a:off x="8141729" y="1980904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2008B-2B20-B923-13A4-EACB748A43CD}"/>
              </a:ext>
            </a:extLst>
          </p:cNvPr>
          <p:cNvSpPr txBox="1"/>
          <p:nvPr/>
        </p:nvSpPr>
        <p:spPr>
          <a:xfrm>
            <a:off x="8153922" y="197080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0E4FB183-87CD-A021-DCE3-17976CDC15B0}"/>
              </a:ext>
            </a:extLst>
          </p:cNvPr>
          <p:cNvSpPr txBox="1">
            <a:spLocks/>
          </p:cNvSpPr>
          <p:nvPr/>
        </p:nvSpPr>
        <p:spPr>
          <a:xfrm>
            <a:off x="7522226" y="2852301"/>
            <a:ext cx="1924319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игровых модулей, интерфейса и инструментов использования</a:t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 интеллекта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1016323-06AF-BFDE-8CAE-88ABD7495C68}"/>
              </a:ext>
            </a:extLst>
          </p:cNvPr>
          <p:cNvSpPr/>
          <p:nvPr/>
        </p:nvSpPr>
        <p:spPr>
          <a:xfrm>
            <a:off x="9520763" y="2363069"/>
            <a:ext cx="1964151" cy="28694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F76DE23-CA35-70D3-FF92-DE9339533AB7}"/>
              </a:ext>
            </a:extLst>
          </p:cNvPr>
          <p:cNvSpPr/>
          <p:nvPr/>
        </p:nvSpPr>
        <p:spPr>
          <a:xfrm>
            <a:off x="10141989" y="200023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2F5D44-D28A-A960-7D3B-49BD83ADBFE8}"/>
              </a:ext>
            </a:extLst>
          </p:cNvPr>
          <p:cNvSpPr txBox="1"/>
          <p:nvPr/>
        </p:nvSpPr>
        <p:spPr>
          <a:xfrm>
            <a:off x="10129797" y="198581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66775377-0D09-CDF4-1215-5F71E7B23A22}"/>
              </a:ext>
            </a:extLst>
          </p:cNvPr>
          <p:cNvSpPr txBox="1">
            <a:spLocks/>
          </p:cNvSpPr>
          <p:nvPr/>
        </p:nvSpPr>
        <p:spPr>
          <a:xfrm>
            <a:off x="9593589" y="2862368"/>
            <a:ext cx="1924319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оценка разработанной системы </a:t>
            </a:r>
          </a:p>
        </p:txBody>
      </p:sp>
    </p:spTree>
    <p:extLst>
      <p:ext uri="{BB962C8B-B14F-4D97-AF65-F5344CB8AC3E}">
        <p14:creationId xmlns:p14="http://schemas.microsoft.com/office/powerpoint/2010/main" val="38287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ADBE78-5221-4CF9-A02F-D36D4692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30EBDD3-F12E-AB60-CB73-07552EB9BC36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6">
            <a:extLst>
              <a:ext uri="{FF2B5EF4-FFF2-40B4-BE49-F238E27FC236}">
                <a16:creationId xmlns:a16="http://schemas.microsoft.com/office/drawing/2014/main" id="{A1A4A3A7-888A-66A4-674C-8F504CF1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аналогов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42DE0D8-66B1-DDF5-68AC-8CD8C330D1DA}"/>
              </a:ext>
            </a:extLst>
          </p:cNvPr>
          <p:cNvGraphicFramePr>
            <a:graphicFrameLocks noGrp="1"/>
          </p:cNvGraphicFramePr>
          <p:nvPr/>
        </p:nvGraphicFramePr>
        <p:xfrm>
          <a:off x="3038475" y="2266347"/>
          <a:ext cx="6115049" cy="3482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645">
                  <a:extLst>
                    <a:ext uri="{9D8B030D-6E8A-4147-A177-3AD203B41FA5}">
                      <a16:colId xmlns:a16="http://schemas.microsoft.com/office/drawing/2014/main" val="3160648689"/>
                    </a:ext>
                  </a:extLst>
                </a:gridCol>
                <a:gridCol w="1169819">
                  <a:extLst>
                    <a:ext uri="{9D8B030D-6E8A-4147-A177-3AD203B41FA5}">
                      <a16:colId xmlns:a16="http://schemas.microsoft.com/office/drawing/2014/main" val="2679369186"/>
                    </a:ext>
                  </a:extLst>
                </a:gridCol>
                <a:gridCol w="1075878">
                  <a:extLst>
                    <a:ext uri="{9D8B030D-6E8A-4147-A177-3AD203B41FA5}">
                      <a16:colId xmlns:a16="http://schemas.microsoft.com/office/drawing/2014/main" val="642864598"/>
                    </a:ext>
                  </a:extLst>
                </a:gridCol>
                <a:gridCol w="989554">
                  <a:extLst>
                    <a:ext uri="{9D8B030D-6E8A-4147-A177-3AD203B41FA5}">
                      <a16:colId xmlns:a16="http://schemas.microsoft.com/office/drawing/2014/main" val="1106089124"/>
                    </a:ext>
                  </a:extLst>
                </a:gridCol>
                <a:gridCol w="723599">
                  <a:extLst>
                    <a:ext uri="{9D8B030D-6E8A-4147-A177-3AD203B41FA5}">
                      <a16:colId xmlns:a16="http://schemas.microsoft.com/office/drawing/2014/main" val="4241290976"/>
                    </a:ext>
                  </a:extLst>
                </a:gridCol>
                <a:gridCol w="989554">
                  <a:extLst>
                    <a:ext uri="{9D8B030D-6E8A-4147-A177-3AD203B41FA5}">
                      <a16:colId xmlns:a16="http://schemas.microsoft.com/office/drawing/2014/main" val="171376837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Характеристика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WerewolfBot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TruthOrLieBot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PlayQuestBot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Reigns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Dark Room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20217245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Стратегические механики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5273079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Использование искусственного интеллекта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Нет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79623264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Формат интерфейса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Текст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Текст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Текст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Визуал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Текст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24200420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Адаптивность для мессенджера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Частично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4101213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Пользовательский интерес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Большой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Большой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Средний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>
                          <a:effectLst/>
                        </a:rPr>
                        <a:t>Большой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100" dirty="0">
                          <a:effectLst/>
                        </a:rPr>
                        <a:t>Средний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25400" marB="25400" anchor="ctr"/>
                </a:tc>
                <a:extLst>
                  <a:ext uri="{0D108BD9-81ED-4DB2-BD59-A6C34878D82A}">
                    <a16:rowId xmlns:a16="http://schemas.microsoft.com/office/drawing/2014/main" val="152288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21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системы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CA901DB-A56A-FDB1-D5E7-1459FDB96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982641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3.13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Aiogram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Aiohttp, SqlAlchemy2</a:t>
            </a: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Клиентская часть: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TypeScript</a:t>
            </a:r>
            <a:b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Библиотеки: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18,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Vite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 данных:</a:t>
            </a:r>
            <a:b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длительное хранение –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PostgreSQL</a:t>
            </a:r>
            <a:b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краткосрочное хранение –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Redis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Ресурсы искусственного интеллекта:</a:t>
            </a:r>
            <a:b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провайдер: </a:t>
            </a:r>
            <a:r>
              <a:rPr lang="en-US" sz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Ollama</a:t>
            </a:r>
            <a:b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текстовая модель: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Dark-Planet-Uncensored-8B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игровых механик и правил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CA901DB-A56A-FDB1-D5E7-1459FDB96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982641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основе разработанного Telegram-бота лежит игровая механика, основанная на правилах игры «Мафия».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интерпретированы все ключевые правила и механики, включая этапы: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создание новой игровой сессии;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генерация игрового сеттинга и персонажей;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автоматическое распределение ролей;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поэтапное проведение дневной и ночной фаз;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выполнение действий в зависимости от роли игрока;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система голосования и исключения персонажей;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определение условий победы одной из сторон;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вывод текущего состояния и итогов партии.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34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ресурсов искусственного интеллекта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CA901DB-A56A-FDB1-D5E7-1459FDB96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982641"/>
            <a:ext cx="86383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разработанном Telegram-боте искусственный интеллект используется как инструмент расширения игрового опыта и повышения вариативности каждой партии.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 применяется для: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Генерации уникального игрового сеттинга для каждой новой сессии;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Создания игровых персонажей с именами, ролями и характеристиками;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Формирования описаний персонажей, их особенностей и поведения;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Генерации текста игровых событий и переходов между фазами;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Стилизации сообщений бота под выбранную атмосферу партии.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27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запросов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D23D85-9B50-6F8A-0A60-6116738FD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4" y="1791855"/>
            <a:ext cx="3631337" cy="3680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AF75C8-D1AF-E771-425E-5D219D88F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694" y="1791855"/>
            <a:ext cx="3631337" cy="3680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15A24C4-8C36-6E98-FC20-655F1BF9B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894" y="1828799"/>
            <a:ext cx="3542181" cy="3606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225E09-B1EF-CCE5-6500-CB34D308F04B}"/>
              </a:ext>
            </a:extLst>
          </p:cNvPr>
          <p:cNvSpPr txBox="1"/>
          <p:nvPr/>
        </p:nvSpPr>
        <p:spPr>
          <a:xfrm>
            <a:off x="5227781" y="5540027"/>
            <a:ext cx="3398982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Публичная речь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203E7E-D66D-87C3-1E39-6F1A0ECEE26A}"/>
              </a:ext>
            </a:extLst>
          </p:cNvPr>
          <p:cNvSpPr txBox="1"/>
          <p:nvPr/>
        </p:nvSpPr>
        <p:spPr>
          <a:xfrm>
            <a:off x="1269999" y="5540026"/>
            <a:ext cx="3398982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Генерация паспортов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604847-6F36-71F6-6A98-44FB79FAD70A}"/>
              </a:ext>
            </a:extLst>
          </p:cNvPr>
          <p:cNvSpPr txBox="1"/>
          <p:nvPr/>
        </p:nvSpPr>
        <p:spPr>
          <a:xfrm>
            <a:off x="8626763" y="5540025"/>
            <a:ext cx="3398982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Генерация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83372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0016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интерфейса: главное меню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A788F-190D-B378-C6FC-3FD37385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2" y="0"/>
            <a:ext cx="4211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0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0016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интерфейса: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комната ожидания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A788F-190D-B378-C6FC-3FD37385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2" y="0"/>
            <a:ext cx="4211778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4D2FE7-C4B6-3B69-9AE3-54C75096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83" y="0"/>
            <a:ext cx="4119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8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0016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интерфейса: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Конфигуратор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A788F-190D-B378-C6FC-3FD37385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2" y="0"/>
            <a:ext cx="4211778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4D2FE7-C4B6-3B69-9AE3-54C75096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83" y="0"/>
            <a:ext cx="4119418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382D85-66C9-4905-6C2A-5DF2B7313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256" y="0"/>
            <a:ext cx="4049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0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853AB9-D079-CCA8-B90C-828C1332F4D9}"/>
              </a:ext>
            </a:extLst>
          </p:cNvPr>
          <p:cNvCxnSpPr>
            <a:cxnSpLocks/>
          </p:cNvCxnSpPr>
          <p:nvPr/>
        </p:nvCxnSpPr>
        <p:spPr>
          <a:xfrm>
            <a:off x="539495" y="154267"/>
            <a:ext cx="0" cy="1465342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8D49EC5B-29DC-F435-2020-EB1009DF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0016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интерфейса: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A788F-190D-B378-C6FC-3FD37385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2" y="0"/>
            <a:ext cx="4211778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4D2FE7-C4B6-3B69-9AE3-54C75096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83" y="0"/>
            <a:ext cx="4119418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382D85-66C9-4905-6C2A-5DF2B7313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256" y="0"/>
            <a:ext cx="4049744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34BB81-4565-4AAA-63FA-C36AC3246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256" y="0"/>
            <a:ext cx="4060587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16C269-7B63-A089-2C73-080F11662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220" y="0"/>
            <a:ext cx="4211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30EAF7CB-1982-4750-B91F-E920AF1D759B}"/>
              </a:ext>
            </a:extLst>
          </p:cNvPr>
          <p:cNvSpPr txBox="1">
            <a:spLocks/>
          </p:cNvSpPr>
          <p:nvPr/>
        </p:nvSpPr>
        <p:spPr>
          <a:xfrm>
            <a:off x="1552254" y="2309877"/>
            <a:ext cx="9217346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/>
              <a:t>СПАСИБО ЗА ВНИМАНИЕ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891AB134-406F-47E3-B065-41667BB7538F}"/>
              </a:ext>
            </a:extLst>
          </p:cNvPr>
          <p:cNvSpPr txBox="1">
            <a:spLocks/>
          </p:cNvSpPr>
          <p:nvPr/>
        </p:nvSpPr>
        <p:spPr>
          <a:xfrm>
            <a:off x="2608499" y="288501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84861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3BB35-41F1-4D75-A0AA-0DC3EA37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</a:pPr>
            <a:r>
              <a:rPr lang="ru-RU" sz="1800" b="1" kern="0" dirty="0">
                <a:effectLst/>
                <a:latin typeface="Times New Roman" panose="02020603050405020304" pitchFamily="18" charset="0"/>
              </a:rPr>
              <a:t>СПИСОК ИСПОЛЬЗОВАННЫХ ИСТОЧНИКОВ И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5F3C37-D392-4DC9-9498-730BF9906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Алексеев А. А. Разработка игр на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– М.: Питер, 2021. – 320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Бобров А. В. Искусственный интеллект в играх. – СПб.: БХВ-Петербург, 2020. – 416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Васильев И. Н. Программирование игр. – М.: ДМК Пресс, 2019. – 560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Григорьев П. С. Создание игровых ботов. – М.: Инфра-М, 2022. – 288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Давыдов М. Л. Основы разработки компьютерных игр. – СПб.: Питер, 2018. – 480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Егоров К. Д. Искусственный интеллект для разработчиков игр. – М.: Эксмо, 2023. – 352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Жуков С. А. Разработка стратегий в компьютерных играх. – М.: Альфа-книга, 2020. – 256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Иванов В. П. Telegram-боты: разработка и применение. – М.: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Интуит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2021. – 192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Козлов Д. А. Игровой дизайн и механики. – СПб.: Питер, 2019. – 304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Лебедев Р. С. Искусственный интеллект: от основ к продвинутым техникам. – М.: ДМК Пресс, 2022. – 608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Морозов Е. В. Разработка игр с использованием Python. – М.: Инфра-М, 2020. – 320 с.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Петров А. И. Искусственный интеллект в стратегических играх. – СПб.: БХВ-Петербург, 2021. – 384 с.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58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836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Выпускная квалификационная работа</vt:lpstr>
      <vt:lpstr>Актуальность</vt:lpstr>
      <vt:lpstr>Предмет и цель</vt:lpstr>
      <vt:lpstr>Задачи</vt:lpstr>
      <vt:lpstr>Сравнительный анализ аналогов</vt:lpstr>
      <vt:lpstr>Проектирование архитектуры системы </vt:lpstr>
      <vt:lpstr>Разработка игровых механик и правил</vt:lpstr>
      <vt:lpstr>Интеграция ресурсов искусственного интеллекта</vt:lpstr>
      <vt:lpstr>Пример запросов</vt:lpstr>
      <vt:lpstr>Реализация интерфейса: главное меню</vt:lpstr>
      <vt:lpstr>Реализация интерфейса:  комната ожидания</vt:lpstr>
      <vt:lpstr>Реализация интерфейса:  Конфигуратор</vt:lpstr>
      <vt:lpstr>Реализация интерфейса:  сессия</vt:lpstr>
      <vt:lpstr>Презентация PowerPoint</vt:lpstr>
      <vt:lpstr>СПИСОК ИСПОЛЬЗОВАННЫХ ИСТОЧНИКОВ И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Простой рисунок - шаблон презентации с сайта presentation-creation.ru</dc:title>
  <dc:creator>User Obstinate</dc:creator>
  <cp:lastModifiedBy>KOMPUTAR</cp:lastModifiedBy>
  <cp:revision>5</cp:revision>
  <dcterms:created xsi:type="dcterms:W3CDTF">2025-03-16T15:56:43Z</dcterms:created>
  <dcterms:modified xsi:type="dcterms:W3CDTF">2026-05-24T02:04:53Z</dcterms:modified>
</cp:coreProperties>
</file>