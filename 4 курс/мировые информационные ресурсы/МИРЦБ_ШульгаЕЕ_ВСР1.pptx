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82" y="3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4/24/2026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55D47-D6B5-C363-2421-976E0AF8BB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Информационное агентство «Интерфакс»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24277C-66B5-57C3-CA25-1F89144E6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Шульга Евгений </a:t>
            </a:r>
            <a:r>
              <a:rPr lang="ru-RU" dirty="0" err="1"/>
              <a:t>Евгениевич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2528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6AF8A-F029-776F-0202-5DBF590E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агентство «Интерфакс»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300CA2-EF17-0ADC-C47B-82BD81D3F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Год создания: 1989 </a:t>
            </a:r>
          </a:p>
          <a:p>
            <a:endParaRPr lang="ru-RU" dirty="0"/>
          </a:p>
          <a:p>
            <a:r>
              <a:rPr lang="ru-RU" dirty="0"/>
              <a:t>В сентябре 1989 года группа журналистов Государственного комитета по телевидению и радиовещанию СССР образовала информационную службу «Интерфакс» . Название происходит от технической новинки того времени — телефакса, который использовался для передачи новостей .</a:t>
            </a:r>
          </a:p>
          <a:p>
            <a:endParaRPr lang="ru-RU" dirty="0"/>
          </a:p>
          <a:p>
            <a:r>
              <a:rPr lang="ru-RU" dirty="0"/>
              <a:t>Важный факт: «Интерфакс» стал первым в Советском Союзе независимым (негосударственным) информационным агентством, работающим в соответствии с международными стандартами информационной журналистики</a:t>
            </a:r>
          </a:p>
        </p:txBody>
      </p:sp>
    </p:spTree>
    <p:extLst>
      <p:ext uri="{BB962C8B-B14F-4D97-AF65-F5344CB8AC3E}">
        <p14:creationId xmlns:p14="http://schemas.microsoft.com/office/powerpoint/2010/main" val="148676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444C5-BAD8-AB21-B9FD-11D8FB62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агентство «Интерфакс»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9EEEED1-DED6-FB22-507A-2CD31FB72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975" y="2322947"/>
            <a:ext cx="10058400" cy="3647205"/>
          </a:xfrm>
        </p:spPr>
      </p:pic>
    </p:spTree>
    <p:extLst>
      <p:ext uri="{BB962C8B-B14F-4D97-AF65-F5344CB8AC3E}">
        <p14:creationId xmlns:p14="http://schemas.microsoft.com/office/powerpoint/2010/main" val="184587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7998B-FFF2-A4D0-C672-2FC19338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агентства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D4DC2B-6E3D-2061-CB82-30D7468EE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Миссия (цель):</a:t>
            </a:r>
          </a:p>
          <a:p>
            <a:r>
              <a:rPr lang="ru-RU" dirty="0"/>
              <a:t>Помогать бизнесу повышать эффективность и снижать риски за счет извлечения из информации знаний. Всегда быть самым авторитетным и надежным источником профессиональной информации для принятия решений .</a:t>
            </a:r>
          </a:p>
          <a:p>
            <a:endParaRPr lang="ru-RU" dirty="0"/>
          </a:p>
          <a:p>
            <a:r>
              <a:rPr lang="ru-RU" dirty="0"/>
              <a:t>Основные задачи:</a:t>
            </a:r>
          </a:p>
          <a:p>
            <a:endParaRPr lang="ru-RU" dirty="0"/>
          </a:p>
          <a:p>
            <a:r>
              <a:rPr lang="ru-RU" dirty="0"/>
              <a:t>Оперативное и объективное освещение ключевых политических и экономических событий в России и мире .</a:t>
            </a:r>
          </a:p>
          <a:p>
            <a:endParaRPr lang="ru-RU" dirty="0"/>
          </a:p>
          <a:p>
            <a:r>
              <a:rPr lang="ru-RU" dirty="0"/>
              <a:t>Предоставление достоверной информации для принятия решений в бизнесе и финансах .</a:t>
            </a:r>
          </a:p>
          <a:p>
            <a:endParaRPr lang="ru-RU" dirty="0"/>
          </a:p>
          <a:p>
            <a:r>
              <a:rPr lang="ru-RU" dirty="0"/>
              <a:t>Разработка инновационных IT-решений в сфере управления рисками (проверка контрагентов, комплаенс, </a:t>
            </a:r>
            <a:r>
              <a:rPr lang="ru-RU" dirty="0" err="1"/>
              <a:t>due</a:t>
            </a:r>
            <a:r>
              <a:rPr lang="ru-RU" dirty="0"/>
              <a:t> </a:t>
            </a:r>
            <a:r>
              <a:rPr lang="ru-RU" dirty="0" err="1"/>
              <a:t>diligence</a:t>
            </a:r>
            <a:r>
              <a:rPr lang="ru-RU" dirty="0"/>
              <a:t>) .</a:t>
            </a:r>
          </a:p>
          <a:p>
            <a:endParaRPr lang="ru-RU" dirty="0"/>
          </a:p>
          <a:p>
            <a:r>
              <a:rPr lang="ru-RU" dirty="0"/>
              <a:t>Следование принципам независимости, точности и надежности, заложенным основателями в 1989 году 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9C1E9-BAC4-F379-6F38-810A5598B01A}"/>
              </a:ext>
            </a:extLst>
          </p:cNvPr>
          <p:cNvSpPr txBox="1"/>
          <p:nvPr/>
        </p:nvSpPr>
        <p:spPr>
          <a:xfrm>
            <a:off x="3047071" y="3244334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Цель и задачи агентства</a:t>
            </a:r>
          </a:p>
        </p:txBody>
      </p:sp>
    </p:spTree>
    <p:extLst>
      <p:ext uri="{BB962C8B-B14F-4D97-AF65-F5344CB8AC3E}">
        <p14:creationId xmlns:p14="http://schemas.microsoft.com/office/powerpoint/2010/main" val="2585669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70C6B-A0B6-F886-4CE8-0DD5ED72F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направления деятельности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C487C4-8594-C735-7A49-94CDF9901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dirty="0"/>
              <a:t>Информационное агентство (новостное производство):</a:t>
            </a:r>
          </a:p>
          <a:p>
            <a:endParaRPr lang="ru-RU" dirty="0"/>
          </a:p>
          <a:p>
            <a:r>
              <a:rPr lang="ru-RU" dirty="0"/>
              <a:t>Выпуск оперативных новостных лент (политика, экономика, финансы, спорт, происшествия).</a:t>
            </a:r>
          </a:p>
          <a:p>
            <a:endParaRPr lang="ru-RU" dirty="0"/>
          </a:p>
          <a:p>
            <a:r>
              <a:rPr lang="ru-RU" dirty="0"/>
              <a:t>Создание специализированных отраслевых новостей (энергетика, металлургия, АПК, IT и телеком) .</a:t>
            </a:r>
          </a:p>
          <a:p>
            <a:endParaRPr lang="ru-RU" dirty="0"/>
          </a:p>
          <a:p>
            <a:r>
              <a:rPr lang="ru-RU" dirty="0"/>
              <a:t>IT-решения и бизнес-информация (основной доход — 85% выручки):</a:t>
            </a:r>
          </a:p>
          <a:p>
            <a:endParaRPr lang="ru-RU" dirty="0"/>
          </a:p>
          <a:p>
            <a:r>
              <a:rPr lang="ru-RU" dirty="0"/>
              <a:t>Разработка профессиональных аналитических систем: СПАРК (проверка контрагентов и рисков), СКАН (мониторинг СМИ и репутационные риски), МАРКЕР (анализ рынков) .</a:t>
            </a:r>
          </a:p>
          <a:p>
            <a:endParaRPr lang="ru-RU" dirty="0"/>
          </a:p>
          <a:p>
            <a:r>
              <a:rPr lang="ru-RU" dirty="0"/>
              <a:t>Предоставление данных для комплаенса, </a:t>
            </a:r>
            <a:r>
              <a:rPr lang="ru-RU" dirty="0" err="1"/>
              <a:t>due</a:t>
            </a:r>
            <a:r>
              <a:rPr lang="ru-RU" dirty="0"/>
              <a:t> </a:t>
            </a:r>
            <a:r>
              <a:rPr lang="ru-RU" dirty="0" err="1"/>
              <a:t>diligence</a:t>
            </a:r>
            <a:r>
              <a:rPr lang="ru-RU" dirty="0"/>
              <a:t> и KYC-процедур .</a:t>
            </a:r>
          </a:p>
          <a:p>
            <a:endParaRPr lang="ru-RU" dirty="0"/>
          </a:p>
          <a:p>
            <a:r>
              <a:rPr lang="ru-RU" dirty="0"/>
              <a:t>Партнерства и дистрибуция:</a:t>
            </a:r>
          </a:p>
          <a:p>
            <a:endParaRPr lang="ru-RU" dirty="0"/>
          </a:p>
          <a:p>
            <a:r>
              <a:rPr lang="ru-RU" dirty="0"/>
              <a:t>Сотрудничество с мировыми информационными гигантами: Bloomberg, Thomson Reuters, Dow Jones </a:t>
            </a:r>
            <a:r>
              <a:rPr lang="ru-RU" dirty="0" err="1"/>
              <a:t>Factiva</a:t>
            </a:r>
            <a:r>
              <a:rPr lang="ru-RU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1094712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46C85-8106-15D2-FAAC-F211B243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тематические направления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E807A17B-FC48-D7C2-05AE-10B95E73C4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7497839"/>
              </p:ext>
            </p:extLst>
          </p:nvPr>
        </p:nvGraphicFramePr>
        <p:xfrm>
          <a:off x="4702175" y="2120900"/>
          <a:ext cx="2794000" cy="4123776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111870358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124994804"/>
                    </a:ext>
                  </a:extLst>
                </a:gridCol>
              </a:tblGrid>
              <a:tr h="181313">
                <a:tc>
                  <a:txBody>
                    <a:bodyPr/>
                    <a:lstStyle/>
                    <a:p>
                      <a:pPr algn="l"/>
                      <a:r>
                        <a:rPr lang="ru-RU" sz="7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Направление</a:t>
                      </a:r>
                    </a:p>
                  </a:txBody>
                  <a:tcPr marL="35668" marR="59447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Характеристика</a:t>
                      </a:r>
                    </a:p>
                  </a:txBody>
                  <a:tcPr marL="59447" marR="59447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953245"/>
                  </a:ext>
                </a:extLst>
              </a:tr>
              <a:tr h="574802">
                <a:tc>
                  <a:txBody>
                    <a:bodyPr/>
                    <a:lstStyle/>
                    <a:p>
                      <a:r>
                        <a:rPr lang="ru-RU" sz="7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Новостное (общественно-политическое)</a:t>
                      </a:r>
                      <a:endParaRPr lang="ru-RU" sz="7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35668" marR="59447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Главные новости России и мира, работа корреспондентов «с мест», заявления первых лиц, события в горячих точках .</a:t>
                      </a:r>
                    </a:p>
                  </a:txBody>
                  <a:tcPr marL="59447" marR="35668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418960"/>
                  </a:ext>
                </a:extLst>
              </a:tr>
              <a:tr h="823338">
                <a:tc>
                  <a:txBody>
                    <a:bodyPr/>
                    <a:lstStyle/>
                    <a:p>
                      <a:r>
                        <a:rPr lang="ru-RU" sz="7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Официальное (информация госорганов)</a:t>
                      </a:r>
                      <a:endParaRPr lang="ru-RU" sz="7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35668" marR="59447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Освещение работы президента, правительства, Госдумы, аккредитация при ключевых ведомствах. Статус агентства по раскрытию информации на фондовом рынке РФ (аккредитация Банка России) .</a:t>
                      </a:r>
                    </a:p>
                  </a:txBody>
                  <a:tcPr marL="59447" marR="35668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53201"/>
                  </a:ext>
                </a:extLst>
              </a:tr>
              <a:tr h="823338">
                <a:tc>
                  <a:txBody>
                    <a:bodyPr/>
                    <a:lstStyle/>
                    <a:p>
                      <a:r>
                        <a:rPr lang="ru-RU" sz="7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Финансово-экономическое</a:t>
                      </a:r>
                      <a:endParaRPr lang="ru-RU" sz="7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35668" marR="59447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Новости для участников финансового рынка, котировки, макроэкономическая статистика, корпоративные события. «Новости "Интерфакса" двигают рынок» — заявление на сайте агентства .</a:t>
                      </a:r>
                    </a:p>
                  </a:txBody>
                  <a:tcPr marL="59447" marR="35668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821844"/>
                  </a:ext>
                </a:extLst>
              </a:tr>
              <a:tr h="716334">
                <a:tc>
                  <a:txBody>
                    <a:bodyPr/>
                    <a:lstStyle/>
                    <a:p>
                      <a:r>
                        <a:rPr lang="ru-RU" sz="7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Отраслевое (специализированное)</a:t>
                      </a:r>
                      <a:endParaRPr lang="ru-RU" sz="7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35668" marR="59447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Энергетика, нефтегазовая отрасль, металлургия и горная добыча, IT и телекоммуникации, сельское хозяйство и продовольствие, страхование, банковская сфера .</a:t>
                      </a:r>
                    </a:p>
                  </a:txBody>
                  <a:tcPr marL="59447" marR="35668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593557"/>
                  </a:ext>
                </a:extLst>
              </a:tr>
              <a:tr h="609330">
                <a:tc>
                  <a:txBody>
                    <a:bodyPr/>
                    <a:lstStyle/>
                    <a:p>
                      <a:r>
                        <a:rPr lang="ru-RU" sz="7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Региональное</a:t>
                      </a:r>
                      <a:endParaRPr lang="ru-RU" sz="7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35668" marR="59447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Сеть собственных корреспондентов в регионах России и странах СНГ (Казахстан, Украина, Беларусь, Азербайджан и др.) .</a:t>
                      </a:r>
                    </a:p>
                  </a:txBody>
                  <a:tcPr marL="59447" marR="35668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629230"/>
                  </a:ext>
                </a:extLst>
              </a:tr>
              <a:tr h="395321">
                <a:tc>
                  <a:txBody>
                    <a:bodyPr/>
                    <a:lstStyle/>
                    <a:p>
                      <a:r>
                        <a:rPr lang="ru-RU" sz="7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Военное</a:t>
                      </a:r>
                      <a:endParaRPr lang="ru-RU" sz="7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35668" marR="59447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7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Отдельная новостная лента «Россия и СНГ: Военные новости» .</a:t>
                      </a:r>
                    </a:p>
                  </a:txBody>
                  <a:tcPr marL="59447" marR="35668" marT="37154" marB="371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30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C51E7-844F-1B40-B4B4-61D9194B8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Возрастные 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1DBC0E-63BD-0F82-1464-0F5B8325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сайте Interfax.ru информация предназначена для аудитории старше 16 лет (16+).</a:t>
            </a:r>
          </a:p>
          <a:p>
            <a:endParaRPr lang="ru-RU" dirty="0"/>
          </a:p>
          <a:p>
            <a:r>
              <a:rPr lang="ru-RU" dirty="0"/>
              <a:t>Как правило, информационные агентства устанавливают маркировку 16+, так как в новостях могут содержаться описания происшествий, чрезвычайных ситуаций, военных действий, а также упоминания о наркотических средствах или нецензурной лексике в цитатах.</a:t>
            </a:r>
          </a:p>
          <a:p>
            <a:endParaRPr lang="ru-RU" dirty="0"/>
          </a:p>
          <a:p>
            <a:r>
              <a:rPr lang="ru-RU" dirty="0"/>
              <a:t>(Для точного подтверждения рекомендуется найти в «подвале» сайта Interfax.ru соответствующую маркировку возрастной категории.)</a:t>
            </a:r>
          </a:p>
        </p:txBody>
      </p:sp>
    </p:spTree>
    <p:extLst>
      <p:ext uri="{BB962C8B-B14F-4D97-AF65-F5344CB8AC3E}">
        <p14:creationId xmlns:p14="http://schemas.microsoft.com/office/powerpoint/2010/main" val="10890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0D469-59DB-86D7-34A4-45D268DC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(редактор, редакционная коллегия)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FC389D-22DE-5459-AF5C-F093EDBAE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Главный редактор: Михаил Витальевич Комиссар .</a:t>
            </a:r>
          </a:p>
          <a:p>
            <a:endParaRPr lang="ru-RU" dirty="0"/>
          </a:p>
          <a:p>
            <a:r>
              <a:rPr lang="ru-RU" dirty="0"/>
              <a:t>Руководство группой «Интерфакс»:</a:t>
            </a:r>
          </a:p>
          <a:p>
            <a:endParaRPr lang="ru-RU" dirty="0"/>
          </a:p>
          <a:p>
            <a:r>
              <a:rPr lang="ru-RU" dirty="0"/>
              <a:t>Основатель и председатель совета директоров — Михаил Комиссар.</a:t>
            </a:r>
          </a:p>
          <a:p>
            <a:endParaRPr lang="ru-RU" dirty="0"/>
          </a:p>
          <a:p>
            <a:r>
              <a:rPr lang="ru-RU" dirty="0"/>
              <a:t>Генеральный директор — Владимир Герасимов.</a:t>
            </a:r>
          </a:p>
          <a:p>
            <a:endParaRPr lang="ru-RU" dirty="0"/>
          </a:p>
          <a:p>
            <a:r>
              <a:rPr lang="ru-RU" dirty="0"/>
              <a:t>Редакционная коллегия (структура):</a:t>
            </a:r>
          </a:p>
          <a:p>
            <a:r>
              <a:rPr lang="ru-RU" dirty="0"/>
              <a:t>Сайтом Interfax.ru управляет служба интернет-проектов группы «Интерфакс». Ранжирование новостей по степени важности проводят опытные редакторы, принимающие решение о размещении на главной странице и в ленте новостей . Всего в группе работают более 1500 профессионалов, из которых свыше 600 — журналисты, редакторы и аналитики .</a:t>
            </a:r>
          </a:p>
        </p:txBody>
      </p:sp>
    </p:spTree>
    <p:extLst>
      <p:ext uri="{BB962C8B-B14F-4D97-AF65-F5344CB8AC3E}">
        <p14:creationId xmlns:p14="http://schemas.microsoft.com/office/powerpoint/2010/main" val="337506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2C6C3-A66B-4C1B-BBF4-EA21F18D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Орган, зарегистрировавший СМИ, и регистрационный номер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B5D7E-D3F5-0550-F23C-04F6E3429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Согласно информации, размещенной в подвале сайта Interfax.ru:</a:t>
            </a:r>
          </a:p>
          <a:p>
            <a:endParaRPr lang="ru-RU" dirty="0"/>
          </a:p>
          <a:p>
            <a:r>
              <a:rPr lang="ru-RU" dirty="0"/>
              <a:t>Название СМИ: Сетевое издание «</a:t>
            </a:r>
            <a:r>
              <a:rPr lang="ru-RU" dirty="0" err="1"/>
              <a:t>Интерфакс.ру</a:t>
            </a:r>
            <a:r>
              <a:rPr lang="ru-RU" dirty="0"/>
              <a:t>»</a:t>
            </a:r>
          </a:p>
          <a:p>
            <a:endParaRPr lang="ru-RU" dirty="0"/>
          </a:p>
          <a:p>
            <a:r>
              <a:rPr lang="ru-RU" dirty="0"/>
              <a:t>Регистрирующий орган: Федеральная служба по надзору в сфере связи, информационных технологий и массовых коммуникаций (Роскомнадзор)</a:t>
            </a:r>
          </a:p>
          <a:p>
            <a:endParaRPr lang="ru-RU" dirty="0"/>
          </a:p>
          <a:p>
            <a:r>
              <a:rPr lang="ru-RU" dirty="0"/>
              <a:t>Регистрационный номер: ЭЛ № ФС 77 - 84928</a:t>
            </a:r>
          </a:p>
          <a:p>
            <a:endParaRPr lang="ru-RU" dirty="0"/>
          </a:p>
          <a:p>
            <a:r>
              <a:rPr lang="ru-RU" dirty="0"/>
              <a:t>Дата выдачи: 21 марта 2023 года .</a:t>
            </a:r>
          </a:p>
        </p:txBody>
      </p:sp>
    </p:spTree>
    <p:extLst>
      <p:ext uri="{BB962C8B-B14F-4D97-AF65-F5344CB8AC3E}">
        <p14:creationId xmlns:p14="http://schemas.microsoft.com/office/powerpoint/2010/main" val="42079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AA5397-BAEF-EB5A-AAA3-433057AE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агентства или его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5D01A5-A3ED-F886-372E-1827B9EB8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А) Структура группы «Интерфакс» (юридически):</a:t>
            </a:r>
          </a:p>
          <a:p>
            <a:r>
              <a:rPr lang="ru-RU" dirty="0"/>
              <a:t>Группа объединяет десятки компаний, включая:</a:t>
            </a:r>
          </a:p>
          <a:p>
            <a:r>
              <a:rPr lang="ru-RU" dirty="0"/>
              <a:t>Головную компанию (ООО «Интерфакс»).</a:t>
            </a:r>
          </a:p>
          <a:p>
            <a:r>
              <a:rPr lang="ru-RU" dirty="0"/>
              <a:t>Сеть национальных (например, «Интерфакс-Украина», «Интерфакс-Казахстан»), региональных и отраслевых агентств .</a:t>
            </a:r>
          </a:p>
          <a:p>
            <a:r>
              <a:rPr lang="ru-RU" dirty="0"/>
              <a:t>IT-подразделения (разработчики СПАРК, СКАН).</a:t>
            </a:r>
          </a:p>
          <a:p>
            <a:r>
              <a:rPr lang="ru-RU" dirty="0"/>
              <a:t>Б) Структура новостного сайта Interfax.ru:</a:t>
            </a:r>
          </a:p>
          <a:p>
            <a:r>
              <a:rPr lang="ru-RU" dirty="0"/>
              <a:t>Главная страница — лента новостей (хроника дня).</a:t>
            </a:r>
          </a:p>
          <a:p>
            <a:r>
              <a:rPr lang="ru-RU" dirty="0"/>
              <a:t>Разделы по темам: Политика, Экономика, Финансы, Спорт, Происшествия, Фото, Видео.</a:t>
            </a:r>
          </a:p>
          <a:p>
            <a:r>
              <a:rPr lang="ru-RU" dirty="0"/>
              <a:t>Спецпроекты и аналитика.</a:t>
            </a:r>
          </a:p>
          <a:p>
            <a:r>
              <a:rPr lang="ru-RU" dirty="0"/>
              <a:t>Фотогалереи (формат HD) .</a:t>
            </a:r>
          </a:p>
          <a:p>
            <a:r>
              <a:rPr lang="ru-RU" dirty="0"/>
              <a:t>Страница отдельной новости — с бесконечной прокруткой (</a:t>
            </a:r>
            <a:r>
              <a:rPr lang="ru-RU" dirty="0" err="1"/>
              <a:t>подгрузкой</a:t>
            </a:r>
            <a:r>
              <a:rPr lang="ru-RU" dirty="0"/>
              <a:t> следующих новостей)</a:t>
            </a:r>
          </a:p>
        </p:txBody>
      </p:sp>
    </p:spTree>
    <p:extLst>
      <p:ext uri="{BB962C8B-B14F-4D97-AF65-F5344CB8AC3E}">
        <p14:creationId xmlns:p14="http://schemas.microsoft.com/office/powerpoint/2010/main" val="3420796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CABC2-5F4F-EEC7-F06A-16F28CD8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 получения информации агентством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D4C140-9FE0-879D-35C8-69DC63BAE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Информация поступает из следующих источников :</a:t>
            </a:r>
          </a:p>
          <a:p>
            <a:r>
              <a:rPr lang="ru-RU" dirty="0"/>
              <a:t>Собственная корреспондентская сеть: Более 600 журналистов в России, странах СНГ и мира. Все значимые события освещаются «с мест».</a:t>
            </a:r>
          </a:p>
          <a:p>
            <a:r>
              <a:rPr lang="ru-RU" dirty="0"/>
              <a:t>Работа с первоисточниками: Прямые контакты с представителями власти, бизнеса, финансовых институтов. Личное общение с людьми, принимающими решения.</a:t>
            </a:r>
          </a:p>
          <a:p>
            <a:r>
              <a:rPr lang="ru-RU" dirty="0"/>
              <a:t>Официальные данные от государственных органов: Аккредитация при президенте, правительстве, министерствах, Банке России.</a:t>
            </a:r>
          </a:p>
          <a:p>
            <a:r>
              <a:rPr lang="ru-RU" dirty="0"/>
              <a:t>Собственные IT-системы мониторинга: Использование разработанных агентством систем (СПАРК, СКАН, МАРКЕР) для сбора и проверки информации из тысяч открытых источников (базы данных судов, ЕГРЮЛ, СМИ) .</a:t>
            </a:r>
          </a:p>
          <a:p>
            <a:r>
              <a:rPr lang="ru-RU" dirty="0"/>
              <a:t>Партнерские соглашения: Обмен информацией с мировыми агентствами (Bloomberg, Reuters)</a:t>
            </a:r>
          </a:p>
        </p:txBody>
      </p:sp>
    </p:spTree>
    <p:extLst>
      <p:ext uri="{BB962C8B-B14F-4D97-AF65-F5344CB8AC3E}">
        <p14:creationId xmlns:p14="http://schemas.microsoft.com/office/powerpoint/2010/main" val="51049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D92C1-9DC7-995F-15C0-70171A7B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качества информации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11979B1-6E91-C0C3-86D3-7621A2A90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1877962"/>
              </p:ext>
            </p:extLst>
          </p:nvPr>
        </p:nvGraphicFramePr>
        <p:xfrm>
          <a:off x="5030050" y="2120900"/>
          <a:ext cx="2138250" cy="4051300"/>
        </p:xfrm>
        <a:graphic>
          <a:graphicData uri="http://schemas.openxmlformats.org/drawingml/2006/table">
            <a:tbl>
              <a:tblPr/>
              <a:tblGrid>
                <a:gridCol w="712750">
                  <a:extLst>
                    <a:ext uri="{9D8B030D-6E8A-4147-A177-3AD203B41FA5}">
                      <a16:colId xmlns:a16="http://schemas.microsoft.com/office/drawing/2014/main" val="326451307"/>
                    </a:ext>
                  </a:extLst>
                </a:gridCol>
                <a:gridCol w="712750">
                  <a:extLst>
                    <a:ext uri="{9D8B030D-6E8A-4147-A177-3AD203B41FA5}">
                      <a16:colId xmlns:a16="http://schemas.microsoft.com/office/drawing/2014/main" val="2116121990"/>
                    </a:ext>
                  </a:extLst>
                </a:gridCol>
                <a:gridCol w="712750">
                  <a:extLst>
                    <a:ext uri="{9D8B030D-6E8A-4147-A177-3AD203B41FA5}">
                      <a16:colId xmlns:a16="http://schemas.microsoft.com/office/drawing/2014/main" val="2185868607"/>
                    </a:ext>
                  </a:extLst>
                </a:gridCol>
              </a:tblGrid>
              <a:tr h="138759">
                <a:tc>
                  <a:txBody>
                    <a:bodyPr/>
                    <a:lstStyle/>
                    <a:p>
                      <a:pPr algn="l"/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L="27297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Оценка</a:t>
                      </a:r>
                    </a:p>
                  </a:txBody>
                  <a:tcPr marL="45495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Обоснование</a:t>
                      </a:r>
                    </a:p>
                  </a:txBody>
                  <a:tcPr marL="45495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21385"/>
                  </a:ext>
                </a:extLst>
              </a:tr>
              <a:tr h="711991">
                <a:tc>
                  <a:txBody>
                    <a:bodyPr/>
                    <a:lstStyle/>
                    <a:p>
                      <a:r>
                        <a:rPr lang="ru-RU" sz="5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Актуальность</a:t>
                      </a:r>
                      <a:endParaRPr lang="ru-RU" sz="5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27297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45495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Режим 24/7, мгновенная реакция на события, работа корреспондентов на местах. Премьер-министр РФ также отмечает «скорость» подачи новостей .</a:t>
                      </a:r>
                    </a:p>
                  </a:txBody>
                  <a:tcPr marL="45495" marR="27297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028878"/>
                  </a:ext>
                </a:extLst>
              </a:tr>
              <a:tr h="1367115">
                <a:tc>
                  <a:txBody>
                    <a:bodyPr/>
                    <a:lstStyle/>
                    <a:p>
                      <a:r>
                        <a:rPr lang="ru-RU" sz="5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Достоверность</a:t>
                      </a:r>
                      <a:endParaRPr lang="ru-RU" sz="5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27297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45495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Агентство построило репутацию на принципах объективности и проверки информации. Существуют жесткие внутренние стандарты создания новостей (редакционная политика). Используются собственные системы верификации данных (СПАРК, СКАН) .</a:t>
                      </a:r>
                    </a:p>
                  </a:txBody>
                  <a:tcPr marL="45495" marR="27297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797017"/>
                  </a:ext>
                </a:extLst>
              </a:tr>
              <a:tr h="1039553">
                <a:tc>
                  <a:txBody>
                    <a:bodyPr/>
                    <a:lstStyle/>
                    <a:p>
                      <a:r>
                        <a:rPr lang="ru-RU" sz="5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Полнота</a:t>
                      </a:r>
                      <a:endParaRPr lang="ru-RU" sz="5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27297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45495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Широта охвата: от политических заявлений до узкоотраслевых финансовых показателей. Наличие спецпроектов и аналитики. Цитируется ведущими мировыми СМИ .</a:t>
                      </a:r>
                    </a:p>
                  </a:txBody>
                  <a:tcPr marL="45495" marR="27297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538583"/>
                  </a:ext>
                </a:extLst>
              </a:tr>
              <a:tr h="793882">
                <a:tc>
                  <a:txBody>
                    <a:bodyPr/>
                    <a:lstStyle/>
                    <a:p>
                      <a:r>
                        <a:rPr lang="ru-RU" sz="500" b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Непредвзятость</a:t>
                      </a:r>
                      <a:endParaRPr lang="ru-RU" sz="5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27297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500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Декларируемо высокая</a:t>
                      </a:r>
                    </a:p>
                  </a:txBody>
                  <a:tcPr marL="45495" marR="45495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5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Исторически создавалось как альтернатива государственному ТАСС. Позиционирует себя как «независимое» и «объективное» агентство .</a:t>
                      </a:r>
                    </a:p>
                  </a:txBody>
                  <a:tcPr marL="45495" marR="27297" marT="28434" marB="284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697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803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093FF-88EA-3ECE-D65D-5F26FD7E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Наличие YouTube-канала или страниц в социальных сетях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DF18F2-88E5-BC34-8A24-094EF16AF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YouTube-канал: Присутствует. На канале «Интерфакс» публикуются видеоверсии новостей, интервью, пресс-конференции, прямые эфиры.</a:t>
            </a:r>
          </a:p>
          <a:p>
            <a:r>
              <a:rPr lang="ru-RU" dirty="0"/>
              <a:t>Социальные сети:</a:t>
            </a:r>
          </a:p>
          <a:p>
            <a:r>
              <a:rPr lang="ru-RU" dirty="0" err="1"/>
              <a:t>Telegram</a:t>
            </a:r>
            <a:r>
              <a:rPr lang="ru-RU" dirty="0"/>
              <a:t>: Один из основных каналов распространения. Активно цитируется.</a:t>
            </a:r>
          </a:p>
          <a:p>
            <a:r>
              <a:rPr lang="ru-RU" dirty="0"/>
              <a:t>VK (ВКонтакте): Официальная группа.</a:t>
            </a:r>
          </a:p>
          <a:p>
            <a:r>
              <a:rPr lang="ru-RU" dirty="0"/>
              <a:t>Twitter (X): Основные новостные ленты на русском и английском языках (@interfax_ru, @interfax_news).</a:t>
            </a:r>
          </a:p>
          <a:p>
            <a:r>
              <a:rPr lang="ru-RU" dirty="0"/>
              <a:t>Основной сайт информационного агентства и сетевого издания: https://www.interfax.ru</a:t>
            </a:r>
          </a:p>
        </p:txBody>
      </p:sp>
    </p:spTree>
    <p:extLst>
      <p:ext uri="{BB962C8B-B14F-4D97-AF65-F5344CB8AC3E}">
        <p14:creationId xmlns:p14="http://schemas.microsoft.com/office/powerpoint/2010/main" val="2288772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B669B-0A91-6F18-D0CC-E521DDEE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Общее впечатление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11BED6-CAA9-73DE-2025-0757A999B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Стиль изложения информации:</a:t>
            </a:r>
          </a:p>
          <a:p>
            <a:r>
              <a:rPr lang="ru-RU" dirty="0"/>
              <a:t>Предельно лаконичный, фактологический, без излишней эмоциональной окраски (классический стиль информационного агентства). Используются короткие предложения, дается ответ на ключевые вопросы (что, где, когда). Жестко разделены факты и комментарии. Премьер-министр РФ характеризует его как «особый, узнаваемый стиль, серьезная аналитика, объективная подача новостей» .</a:t>
            </a:r>
          </a:p>
          <a:p>
            <a:endParaRPr lang="ru-RU" dirty="0"/>
          </a:p>
          <a:p>
            <a:r>
              <a:rPr lang="ru-RU" dirty="0"/>
              <a:t>Дизайн и интерфейс:</a:t>
            </a:r>
          </a:p>
          <a:p>
            <a:r>
              <a:rPr lang="ru-RU" dirty="0"/>
              <a:t>Современный, минималистичный, ориентированный на мобильные устройства. После редизайна 2019 года сайт стал визуально легче за счет отказа от трех колонок и перехода к «бесконечной ленте». Фотографии крупные (HD), навигация интуитивная. Рекламные блоки присутствуют, но не перегружают основной контент .</a:t>
            </a:r>
          </a:p>
          <a:p>
            <a:endParaRPr lang="ru-RU" dirty="0"/>
          </a:p>
          <a:p>
            <a:r>
              <a:rPr lang="ru-RU" dirty="0"/>
              <a:t>Общее впечатление:</a:t>
            </a:r>
          </a:p>
          <a:p>
            <a:r>
              <a:rPr lang="ru-RU" dirty="0"/>
              <a:t>Высокопрофессиональный, респектабельный информационный ресурс, ориентированный на бизнес-аудиторию, госслужащих и журналистов. Выступает не просто как СМИ, но и как технологическая компания, создающая аналитические IT-продукты. Один из самых авторитетных и часто цитируемых источников в России.</a:t>
            </a:r>
          </a:p>
        </p:txBody>
      </p:sp>
    </p:spTree>
    <p:extLst>
      <p:ext uri="{BB962C8B-B14F-4D97-AF65-F5344CB8AC3E}">
        <p14:creationId xmlns:p14="http://schemas.microsoft.com/office/powerpoint/2010/main" val="2140642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1B57AF-A3CD-8373-6469-728A306F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Источники, с которых взята информация об агентстве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0A42C2-2B35-B8AC-F437-A0F132901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Официальный сайт группы «Интерфакс» (разделы «О компании», «Карьера», «Продукты»): group.interfax.ru .</a:t>
            </a:r>
          </a:p>
          <a:p>
            <a:r>
              <a:rPr lang="ru-RU" dirty="0"/>
              <a:t>Официальный сайт Interfax.ru (подвал сайта, новостные публикации): www.interfax.ru .</a:t>
            </a:r>
          </a:p>
          <a:p>
            <a:r>
              <a:rPr lang="ru-RU" dirty="0"/>
              <a:t>История агентства на английской версии сайта: interfax.com .</a:t>
            </a:r>
          </a:p>
          <a:p>
            <a:r>
              <a:rPr lang="ru-RU" dirty="0"/>
              <a:t>Статья «"Интерфаксу" — 25 лет» на портале «Интерфакс-Казахстан»: interfax.kz .</a:t>
            </a:r>
          </a:p>
          <a:p>
            <a:r>
              <a:rPr lang="ru-RU" dirty="0"/>
              <a:t>Статья Rambler/новости о редизайне сайта: news.rambler.ru .</a:t>
            </a:r>
          </a:p>
          <a:p>
            <a:r>
              <a:rPr lang="ru-RU" dirty="0"/>
              <a:t>Публикация «По просьбе читателей. Что может "Интерфакс"» в архиве «Аргументов и Фактов» за 1990 год: archive.aif.ru .</a:t>
            </a:r>
          </a:p>
          <a:p>
            <a:r>
              <a:rPr lang="ru-RU" dirty="0"/>
              <a:t>Заметка «Агентству "Интерфакс" исполнилось 10 лет» на Lenta.ru: lenta.ru 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25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{C95AFB6D-399C-4E58-BA56-C7BC8B0D21A7}TF2ec419c9-97c3-4958-b02a-0886397d33afff5e1baa-c5eb14decf20</Template>
  <TotalTime>7</TotalTime>
  <Words>1391</Words>
  <Application>Microsoft Office PowerPoint</Application>
  <PresentationFormat>Широкоэкранный</PresentationFormat>
  <Paragraphs>140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Cambria</vt:lpstr>
      <vt:lpstr>quote-cjk-patch</vt:lpstr>
      <vt:lpstr>Rockwell</vt:lpstr>
      <vt:lpstr>Rockwell Condensed</vt:lpstr>
      <vt:lpstr>Wingdings</vt:lpstr>
      <vt:lpstr>Дерево</vt:lpstr>
      <vt:lpstr>Информационное агентство «Интерфакс»</vt:lpstr>
      <vt:lpstr>Информационное агентство «Интерфакс»</vt:lpstr>
      <vt:lpstr>Информационное агентство «Интерфакс»</vt:lpstr>
      <vt:lpstr>Цель и задачи агентства</vt:lpstr>
      <vt:lpstr>Основные направления деятельности</vt:lpstr>
      <vt:lpstr>Основные тематические направления</vt:lpstr>
      <vt:lpstr>Возрастные ограничения</vt:lpstr>
      <vt:lpstr>Управление (редактор, редакционная коллегия)</vt:lpstr>
      <vt:lpstr>Орган, зарегистрировавший СМИ, и регистрационный номер</vt:lpstr>
      <vt:lpstr>Структура агентства или его сайта</vt:lpstr>
      <vt:lpstr>Источники получения информации агентством</vt:lpstr>
      <vt:lpstr>Оценка качества информации</vt:lpstr>
      <vt:lpstr>Наличие YouTube-канала или страниц в социальных сетях</vt:lpstr>
      <vt:lpstr>Общее впечатление</vt:lpstr>
      <vt:lpstr>Источники, с которых взята информация об агентстве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KOMPUTAR</dc:creator>
  <cp:lastModifiedBy>KOMPUTAR</cp:lastModifiedBy>
  <cp:revision>1</cp:revision>
  <dcterms:created xsi:type="dcterms:W3CDTF">2026-04-24T06:41:21Z</dcterms:created>
  <dcterms:modified xsi:type="dcterms:W3CDTF">2026-04-24T06:48:31Z</dcterms:modified>
</cp:coreProperties>
</file>