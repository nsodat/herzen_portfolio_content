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05" autoAdjust="0"/>
    <p:restoredTop sz="94660"/>
  </p:normalViewPr>
  <p:slideViewPr>
    <p:cSldViewPr snapToGrid="0">
      <p:cViewPr varScale="1">
        <p:scale>
          <a:sx n="69" d="100"/>
          <a:sy n="69" d="100"/>
        </p:scale>
        <p:origin x="86" y="3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DE598B-2649-6EBC-D193-F7E6E666EF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9440EE5-764C-CB11-1433-834D313FCD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BC92B4C-59E0-1706-DFC9-0C590E286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4150E-AE8C-4235-9752-19AA64BBCBC7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FED7D33-4087-E24C-20CD-ACAFAEAE7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903A9D-597E-5973-336A-6EAC6B116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0DA54-6E23-4E0D-8955-96DD03F90D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6301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C3021B-82D4-C75D-BE1C-3FDE2EF31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D16266-D732-0EF5-F8D2-6F1BB3BE6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6B5680-47B0-3343-4212-AFCA57328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4150E-AE8C-4235-9752-19AA64BBCBC7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3E9E7C3-7059-769D-E1CE-27C730EA0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0753B3-77CD-300B-5089-31D6A1FA7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0DA54-6E23-4E0D-8955-96DD03F90D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5233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912A64-6CB8-B098-A864-578C33E3A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30CC50E-4481-8296-CE58-3165FEB61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2FB3AA-9462-DC17-7F86-DB53D34D9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4150E-AE8C-4235-9752-19AA64BBCBC7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DA7684-80B2-0C94-63D8-16EA02F10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0780C4-06B6-3086-A463-8F7CAB68D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0DA54-6E23-4E0D-8955-96DD03F90D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6150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66A424-01C2-3923-B88A-6E02DB0EF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9D91D3-4E26-7FCF-4AD2-6F2E9A7400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D3D6EA6-800E-1D27-38D2-E6BA9AD8DB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1239EE3-2F09-C99D-B651-087F1A6E6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4150E-AE8C-4235-9752-19AA64BBCBC7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5F57A67-FFA6-EA09-34D1-44693E3BF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5E65834-CD44-EA7F-C1BF-123AB714A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0DA54-6E23-4E0D-8955-96DD03F90D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9653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15221A-73AB-9B88-1D42-38BA3CEC6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BFEF393-4712-39A3-46D6-87947EF43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A030478-0B78-4094-0CA7-1E45F3239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77984DE-2EFF-B239-9618-ED74B87478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BC85D64-573A-B187-E17C-DD4F907E58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71C88C4-F9D3-625C-BFE3-B0EFFA12B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4150E-AE8C-4235-9752-19AA64BBCBC7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2C82958-EC54-51CF-9415-C7DB8266F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DFDE162-884D-D1B0-66E4-508C0A47D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0DA54-6E23-4E0D-8955-96DD03F90D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8740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D9E257-0622-EA2A-42FB-E00D4E516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CDB11BF-F7A1-EEB5-4FFF-65C828953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4150E-AE8C-4235-9752-19AA64BBCBC7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18EE5A9-1D9E-272E-0471-E1DA7B471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6A5E735-A536-432B-2A60-7A850AAC1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0DA54-6E23-4E0D-8955-96DD03F90D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7937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B55EAD3-5E18-514C-E401-1EC3EE367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4150E-AE8C-4235-9752-19AA64BBCBC7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17CDE29-D03D-022C-7BCD-6DABB56FA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E9CB793-8D93-6B95-DCDE-2D6F3E713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0DA54-6E23-4E0D-8955-96DD03F90D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2022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CF9E59-2A99-224E-0D66-3FBA292A1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C5DD1F-34E6-85E6-CB9A-281B8D885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B7D9892-07E1-411B-523F-F805FDE9EE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47DE28E-B010-89E4-D473-DB640F662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4150E-AE8C-4235-9752-19AA64BBCBC7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EECCBF5-6F71-32D1-6478-C9503E4E5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24F9B0B-E33F-7FE0-D197-B5F688427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0DA54-6E23-4E0D-8955-96DD03F90D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2775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170F5D-90FA-C3E5-FA9D-207980F34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05383B6-E049-565A-B7FF-562D1E1EDB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48021F2-BF58-8A05-476C-28D7257684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0D82B67-9E23-BB62-8D77-DC5760FA2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4150E-AE8C-4235-9752-19AA64BBCBC7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C159D34-6557-4E52-10EB-516F369D1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2E09C84-B74C-A6C1-9179-FD810838E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0DA54-6E23-4E0D-8955-96DD03F90D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4090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267847-04C8-2514-8931-05D363774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A0B9B49-8E93-7AE7-B85D-42F9320F1A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EFDF375-AB24-75E6-1A6D-29C5D10DF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4150E-AE8C-4235-9752-19AA64BBCBC7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1AB316-6EFF-0FE8-D726-76DEBDC2B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8656FB-13EC-8F47-35B4-864F920D4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0DA54-6E23-4E0D-8955-96DD03F90D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5777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FDFA360-9C67-F142-5704-3F50DEF77E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1A58135-B9BE-F65C-643B-0CE6FA07E8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9C0A37-F7DA-94E4-96D4-61FA9CE7A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4150E-AE8C-4235-9752-19AA64BBCBC7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9A589C-1667-DF2A-6CB6-95815D8C2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6EBEEB4-7136-D2C2-98C8-2164B3023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0DA54-6E23-4E0D-8955-96DD03F90D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5507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71FB34-B861-4699-D4ED-AB8540A37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4B4593F-AF83-2919-2EE7-2340D04E7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1C1B6E4-4084-4956-62DB-8BFCB2E2C9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74150E-AE8C-4235-9752-19AA64BBCBC7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84694E-BE33-6BB2-8B0D-8C9B916B9F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15922D-A3FF-B06E-8A0C-CEFCC8D5EC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80DA54-6E23-4E0D-8955-96DD03F90D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5649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160D55-8261-D24B-8A1C-86251D7147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Nielsen — глобальный поставщик данных и аналитики для медиарынка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95DE56C-93A2-2F96-CF9B-0752BB5F27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Шульга Евгений </a:t>
            </a:r>
            <a:r>
              <a:rPr lang="ru-RU" dirty="0" err="1"/>
              <a:t>Евгениевич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93494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575639-707C-5328-EC26-7EECCFBE0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Название компании и год основания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0F5A32-3397-6D4B-6B2D-E54B389E3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Название: Nielsen Holdings </a:t>
            </a:r>
            <a:r>
              <a:rPr lang="ru-RU" dirty="0" err="1"/>
              <a:t>plc</a:t>
            </a:r>
            <a:r>
              <a:rPr lang="ru-RU" dirty="0"/>
              <a:t> (Nielsen)</a:t>
            </a:r>
          </a:p>
          <a:p>
            <a:r>
              <a:rPr lang="ru-RU" dirty="0"/>
              <a:t>Год основания: 1923</a:t>
            </a:r>
          </a:p>
          <a:p>
            <a:r>
              <a:rPr lang="ru-RU" dirty="0"/>
              <a:t>Штаб-квартира: Нью-Йорк, США</a:t>
            </a:r>
          </a:p>
          <a:p>
            <a:r>
              <a:rPr lang="ru-RU" dirty="0"/>
              <a:t>URL: https://www.nielsen.com/ru/ru (русскоязычная страница)</a:t>
            </a:r>
          </a:p>
          <a:p>
            <a:r>
              <a:rPr lang="ru-RU" dirty="0"/>
              <a:t>Описание с сайта: Nielsen — глобальная компания по измерению и анализу аудитории, данных и аналитики, формирующая будущее медиа .</a:t>
            </a:r>
          </a:p>
        </p:txBody>
      </p:sp>
    </p:spTree>
    <p:extLst>
      <p:ext uri="{BB962C8B-B14F-4D97-AF65-F5344CB8AC3E}">
        <p14:creationId xmlns:p14="http://schemas.microsoft.com/office/powerpoint/2010/main" val="3928604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1D9AFD-93EB-7D3F-25C6-986CC384F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Скриншот сайта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9AA46FD-19D9-3BC7-7274-BFB2B1B6C1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1655" y="1825625"/>
            <a:ext cx="9188689" cy="4351338"/>
          </a:xfrm>
        </p:spPr>
      </p:pic>
    </p:spTree>
    <p:extLst>
      <p:ext uri="{BB962C8B-B14F-4D97-AF65-F5344CB8AC3E}">
        <p14:creationId xmlns:p14="http://schemas.microsoft.com/office/powerpoint/2010/main" val="3088052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C3AD03-608A-768E-76B1-149FB1546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делает Nielsen? Основные направления деятельности и функции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E3EA3B-62C5-E1EE-0461-746667417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dirty="0"/>
              <a:t>Nielsen не продаёт товары в обычном смысле. Это компания данных (Big Data </a:t>
            </a:r>
            <a:r>
              <a:rPr lang="ru-RU" dirty="0" err="1"/>
              <a:t>company</a:t>
            </a:r>
            <a:r>
              <a:rPr lang="ru-RU" dirty="0"/>
              <a:t>).</a:t>
            </a:r>
          </a:p>
          <a:p>
            <a:pPr marL="0" indent="0">
              <a:buNone/>
            </a:pPr>
            <a:r>
              <a:rPr lang="ru-RU" dirty="0"/>
              <a:t>Направления деятельности:</a:t>
            </a:r>
          </a:p>
          <a:p>
            <a:r>
              <a:rPr lang="ru-RU" dirty="0"/>
              <a:t>Измерение телевизионной и цифровой аудитории: Сбор данных о том, кто, что и когда смотрит на всех устройствах (ТВ, смартфоны, планшеты).</a:t>
            </a:r>
          </a:p>
          <a:p>
            <a:r>
              <a:rPr lang="ru-RU" dirty="0"/>
              <a:t>Аналитика потребительского поведения: Оценка того, что покупают люди в магазинах и онлайн, на основе панелей домохозяйств.</a:t>
            </a:r>
          </a:p>
          <a:p>
            <a:r>
              <a:rPr lang="ru-RU" dirty="0"/>
              <a:t>Предоставление данных для принятия решений: Помощь медиакомпаниям, рекламодателям и ритейлерам в планировании контента и рекламных кампаний.</a:t>
            </a:r>
          </a:p>
          <a:p>
            <a:r>
              <a:rPr lang="ru-RU" dirty="0"/>
              <a:t>Стандартизация измерений: Nielsen задаёт отраслевые стандарты в мире рекламы и маркетинга (например, рейтинги телепрограмм).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5387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4738F6-EDD2-CBF8-F529-8678737BD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Ключевые цифры и масштаб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AE19C57A-B432-498F-A953-91DC6739CE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6864758"/>
              </p:ext>
            </p:extLst>
          </p:nvPr>
        </p:nvGraphicFramePr>
        <p:xfrm>
          <a:off x="2514600" y="2290604"/>
          <a:ext cx="7162800" cy="3421380"/>
        </p:xfrm>
        <a:graphic>
          <a:graphicData uri="http://schemas.openxmlformats.org/drawingml/2006/table">
            <a:tbl>
              <a:tblPr/>
              <a:tblGrid>
                <a:gridCol w="3581400">
                  <a:extLst>
                    <a:ext uri="{9D8B030D-6E8A-4147-A177-3AD203B41FA5}">
                      <a16:colId xmlns:a16="http://schemas.microsoft.com/office/drawing/2014/main" val="1790409586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37503942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Показатель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Значение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51919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b="1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Людей в глобальных панелях</a:t>
                      </a:r>
                      <a:endParaRPr lang="ru-RU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Более 750 000 человек</a:t>
                      </a:r>
                      <a:r>
                        <a:rPr lang="ru-RU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 по всему миру, которые участвуют в измерениях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6862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b="1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Сотрудников</a:t>
                      </a:r>
                      <a:endParaRPr lang="ru-RU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Более 13 000</a:t>
                      </a:r>
                      <a:r>
                        <a:rPr lang="ru-RU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 в 57 странах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008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b="1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Бизнес-ресурсных групп по инклюзивности</a:t>
                      </a:r>
                      <a:endParaRPr lang="ru-RU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14</a:t>
                      </a:r>
                      <a:endParaRPr lang="ru-RU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05231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b="1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Тип данных</a:t>
                      </a:r>
                      <a:endParaRPr lang="ru-RU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Реальные данные от реальных людей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868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6717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43E4F3-6C15-EF17-7874-28DB5BD51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Nielsen собирает Big Data?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A50C73-D16D-9391-C138-748D5A52B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Вы можете изобразить это в виде схемы или списка.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Три уровня сбора данных :</a:t>
            </a:r>
          </a:p>
          <a:p>
            <a:r>
              <a:rPr lang="ru-RU" dirty="0"/>
              <a:t>Люди (Панели): 750 000 человек добровольно предоставляют данные о своих покупках и просмотрах (через дневники, сканнеры, специальные устройства).</a:t>
            </a:r>
          </a:p>
          <a:p>
            <a:r>
              <a:rPr lang="ru-RU" dirty="0"/>
              <a:t>Устройства (ТВ-приставки, смартфоны): Автоматический сбор метаданных о просмотре и прослушивании контента.</a:t>
            </a:r>
          </a:p>
          <a:p>
            <a:r>
              <a:rPr lang="ru-RU" dirty="0"/>
              <a:t>Технологии (Большие данные): Обработка петабайт информации с помощью алгоритмов AI и машинного обучения для очистки, агрегации и экстраполяции на всю популяцию.</a:t>
            </a:r>
          </a:p>
        </p:txBody>
      </p:sp>
    </p:spTree>
    <p:extLst>
      <p:ext uri="{BB962C8B-B14F-4D97-AF65-F5344CB8AC3E}">
        <p14:creationId xmlns:p14="http://schemas.microsoft.com/office/powerpoint/2010/main" val="3660732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B7F0B3-92A4-1358-2729-307B2C99C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Качество информации: Оценка Nielsen как поставщика данных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40E43D77-D1EF-D516-C301-5C5CCE562E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2864095"/>
              </p:ext>
            </p:extLst>
          </p:nvPr>
        </p:nvGraphicFramePr>
        <p:xfrm>
          <a:off x="4100752" y="1825625"/>
          <a:ext cx="3990495" cy="4351339"/>
        </p:xfrm>
        <a:graphic>
          <a:graphicData uri="http://schemas.openxmlformats.org/drawingml/2006/table">
            <a:tbl>
              <a:tblPr/>
              <a:tblGrid>
                <a:gridCol w="1330165">
                  <a:extLst>
                    <a:ext uri="{9D8B030D-6E8A-4147-A177-3AD203B41FA5}">
                      <a16:colId xmlns:a16="http://schemas.microsoft.com/office/drawing/2014/main" val="1586712371"/>
                    </a:ext>
                  </a:extLst>
                </a:gridCol>
                <a:gridCol w="1330165">
                  <a:extLst>
                    <a:ext uri="{9D8B030D-6E8A-4147-A177-3AD203B41FA5}">
                      <a16:colId xmlns:a16="http://schemas.microsoft.com/office/drawing/2014/main" val="4147271852"/>
                    </a:ext>
                  </a:extLst>
                </a:gridCol>
                <a:gridCol w="1330165">
                  <a:extLst>
                    <a:ext uri="{9D8B030D-6E8A-4147-A177-3AD203B41FA5}">
                      <a16:colId xmlns:a16="http://schemas.microsoft.com/office/drawing/2014/main" val="4237841671"/>
                    </a:ext>
                  </a:extLst>
                </a:gridCol>
              </a:tblGrid>
              <a:tr h="258958">
                <a:tc>
                  <a:txBody>
                    <a:bodyPr/>
                    <a:lstStyle/>
                    <a:p>
                      <a:pPr algn="l"/>
                      <a:r>
                        <a:rPr lang="ru-RU" sz="10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Критерий</a:t>
                      </a:r>
                    </a:p>
                  </a:txBody>
                  <a:tcPr marL="50942" marR="84904" marT="53065" marB="530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Оценка</a:t>
                      </a:r>
                    </a:p>
                  </a:txBody>
                  <a:tcPr marL="84904" marR="84904" marT="53065" marB="530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Пояснение</a:t>
                      </a:r>
                    </a:p>
                  </a:txBody>
                  <a:tcPr marL="84904" marR="84904" marT="53065" marB="530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190131"/>
                  </a:ext>
                </a:extLst>
              </a:tr>
              <a:tr h="1175923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Актуальность</a:t>
                      </a:r>
                      <a:endParaRPr lang="ru-RU" sz="10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50942" marR="84904" marT="53065" marB="530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Высокая</a:t>
                      </a:r>
                    </a:p>
                  </a:txBody>
                  <a:tcPr marL="84904" marR="84904" marT="53065" marB="530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Предоставляются «почти реальные» данные (Near Real-Time), например, The Gauge — еженедельный обзор ТВ-аудитории .</a:t>
                      </a:r>
                    </a:p>
                  </a:txBody>
                  <a:tcPr marL="84904" marR="50942" marT="53065" marB="530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5338254"/>
                  </a:ext>
                </a:extLst>
              </a:tr>
              <a:tr h="1023095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Достоверность</a:t>
                      </a:r>
                      <a:endParaRPr lang="ru-RU" sz="10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50942" marR="84904" marT="53065" marB="530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Очень высокая (отраслевой стандарт)</a:t>
                      </a:r>
                    </a:p>
                  </a:txBody>
                  <a:tcPr marL="84904" marR="84904" marT="53065" marB="530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Цитируется крупнейшими мировыми СМИ и корпорациями как официальная статистика.</a:t>
                      </a:r>
                    </a:p>
                  </a:txBody>
                  <a:tcPr marL="84904" marR="50942" marT="53065" marB="530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936877"/>
                  </a:ext>
                </a:extLst>
              </a:tr>
              <a:tr h="870268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Полнота</a:t>
                      </a:r>
                      <a:endParaRPr lang="ru-RU" sz="10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50942" marR="84904" marT="53065" marB="530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Максимальная</a:t>
                      </a:r>
                    </a:p>
                  </a:txBody>
                  <a:tcPr marL="84904" marR="84904" marT="53065" marB="530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Охватывает 57 стран, десятки тысяч товарных категорий и все основные медиаплатформы .</a:t>
                      </a:r>
                    </a:p>
                  </a:txBody>
                  <a:tcPr marL="84904" marR="50942" marT="53065" marB="530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670633"/>
                  </a:ext>
                </a:extLst>
              </a:tr>
              <a:tr h="1023095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Прозрачность</a:t>
                      </a:r>
                      <a:endParaRPr lang="ru-RU" sz="10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50942" marR="84904" marT="53065" marB="530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Высокая</a:t>
                      </a:r>
                    </a:p>
                  </a:txBody>
                  <a:tcPr marL="84904" marR="84904" marT="53065" marB="530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Nielsen публикует методологию и периодически обновляет панели для репрезентативности.</a:t>
                      </a:r>
                    </a:p>
                  </a:txBody>
                  <a:tcPr marL="84904" marR="50942" marT="53065" marB="530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7310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1907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4BBB9D-0164-6A84-0A8C-E43C0AEF2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сайта </a:t>
            </a:r>
            <a:r>
              <a:rPr lang="en-US" dirty="0"/>
              <a:t>Nielsen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D5B637-A84D-7F17-6BB8-D3ADDF680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Сайт nielsen.com построен вокруг потребностей бизнес-клиентов.</a:t>
            </a:r>
          </a:p>
          <a:p>
            <a:pPr marL="0" indent="0">
              <a:buNone/>
            </a:pPr>
            <a:r>
              <a:rPr lang="ru-RU" dirty="0"/>
              <a:t>Основные разделы (по данным русскоязычной версии):</a:t>
            </a:r>
          </a:p>
          <a:p>
            <a:r>
              <a:rPr lang="ru-RU" dirty="0"/>
              <a:t>Решения (Solutions): Подбор продуктов по отраслям (медиа, ритейл, рекламодатели).</a:t>
            </a:r>
          </a:p>
          <a:p>
            <a:r>
              <a:rPr lang="ru-RU" dirty="0" err="1"/>
              <a:t>Insights</a:t>
            </a:r>
            <a:r>
              <a:rPr lang="ru-RU" dirty="0"/>
              <a:t> (Аналитика): Бесплатные отчёты, исследования рынка, новости (например, о тратах на рекламу в АТР) .</a:t>
            </a:r>
          </a:p>
          <a:p>
            <a:r>
              <a:rPr lang="ru-RU" dirty="0"/>
              <a:t>О нас (</a:t>
            </a:r>
            <a:r>
              <a:rPr lang="ru-RU" dirty="0" err="1"/>
              <a:t>About</a:t>
            </a:r>
            <a:r>
              <a:rPr lang="ru-RU" dirty="0"/>
              <a:t>/Company): История, руководство, карьера.</a:t>
            </a:r>
          </a:p>
          <a:p>
            <a:r>
              <a:rPr lang="ru-RU" dirty="0"/>
              <a:t>The </a:t>
            </a:r>
            <a:r>
              <a:rPr lang="ru-RU" dirty="0" err="1"/>
              <a:t>Gauge</a:t>
            </a:r>
            <a:r>
              <a:rPr lang="ru-RU" dirty="0"/>
              <a:t>: Ежемесячный/еженедельный отчёт о состоянии ТВ-рынка США.</a:t>
            </a:r>
          </a:p>
          <a:p>
            <a:r>
              <a:rPr lang="ru-RU" dirty="0"/>
              <a:t>Пользователи сайта: Бизнес-клиенты (медиаменеджеры, маркетологи), инвесторы, исследователи, журналисты.</a:t>
            </a:r>
          </a:p>
        </p:txBody>
      </p:sp>
    </p:spTree>
    <p:extLst>
      <p:ext uri="{BB962C8B-B14F-4D97-AF65-F5344CB8AC3E}">
        <p14:creationId xmlns:p14="http://schemas.microsoft.com/office/powerpoint/2010/main" val="751347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BF4CD6-03E8-AD32-3F3F-CD52775EA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Реклама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7CEFD2-8309-2E15-075E-D042877A5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На сайте Nielsen НЕТ коммерческой рекламы в классическом понимании (баннеров, всплывающих окон).</a:t>
            </a:r>
          </a:p>
          <a:p>
            <a:pPr marL="0" indent="0">
              <a:buNone/>
            </a:pPr>
            <a:r>
              <a:rPr lang="ru-RU" dirty="0"/>
              <a:t>Что есть вместо рекламы:</a:t>
            </a:r>
          </a:p>
          <a:p>
            <a:r>
              <a:rPr lang="ru-RU" dirty="0"/>
              <a:t>Призывы к действию (CTA): «Получить демо», «Связаться с нами», «Подписаться на новости» .</a:t>
            </a:r>
          </a:p>
          <a:p>
            <a:r>
              <a:rPr lang="ru-RU" dirty="0"/>
              <a:t>Промо собственных продуктов, исследований и вебинаров.</a:t>
            </a:r>
          </a:p>
          <a:p>
            <a:r>
              <a:rPr lang="ru-RU" dirty="0"/>
              <a:t>Это типично для B2B-компаний (бизнес для бизнеса), а не для B2C-медиа.</a:t>
            </a:r>
          </a:p>
        </p:txBody>
      </p:sp>
    </p:spTree>
    <p:extLst>
      <p:ext uri="{BB962C8B-B14F-4D97-AF65-F5344CB8AC3E}">
        <p14:creationId xmlns:p14="http://schemas.microsoft.com/office/powerpoint/2010/main" val="1960217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FDEFD8-7EC2-21A6-7028-EA4E54E11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Общее впечатление о компании и её базе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DD93D6-2565-D46F-7E0C-74753A7E4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Стиль и дизайн сайта: Профессиональный, строгий, информативный. Фокус на данных и конкретике, ярких цветов мало — тон задаёт синий корпоративный цвет.</a:t>
            </a:r>
          </a:p>
          <a:p>
            <a:pPr marL="0" indent="0">
              <a:buNone/>
            </a:pPr>
            <a:r>
              <a:rPr lang="ru-RU" dirty="0"/>
              <a:t>Роль Nielsen как поставщика Big Data:</a:t>
            </a:r>
          </a:p>
          <a:p>
            <a:r>
              <a:rPr lang="ru-RU" dirty="0"/>
              <a:t>Один из старейших (с 1923 года) и самых авторитетных игроков на рынке потребительских и </a:t>
            </a:r>
            <a:r>
              <a:rPr lang="ru-RU" dirty="0" err="1"/>
              <a:t>медиаданных</a:t>
            </a:r>
            <a:r>
              <a:rPr lang="ru-RU" dirty="0"/>
              <a:t>.</a:t>
            </a:r>
          </a:p>
          <a:p>
            <a:r>
              <a:rPr lang="ru-RU" dirty="0"/>
              <a:t>Сочетает классические панельные исследования (глубина) с современными методами Big Data (скорость и охват).</a:t>
            </a:r>
          </a:p>
          <a:p>
            <a:r>
              <a:rPr lang="ru-RU" dirty="0"/>
              <a:t>Является незаменимым звеном всей рекламной и медиаиндустрии США и многих других стран.</a:t>
            </a:r>
          </a:p>
          <a:p>
            <a:r>
              <a:rPr lang="ru-RU" dirty="0"/>
              <a:t>Важный нюанс: Данные Nielsen — платные и дорогие. Они предназначены для корпораций, а не для частных лиц. Компания зарабатывает на подписках и аналитических отчётах.</a:t>
            </a:r>
          </a:p>
        </p:txBody>
      </p:sp>
    </p:spTree>
    <p:extLst>
      <p:ext uri="{BB962C8B-B14F-4D97-AF65-F5344CB8AC3E}">
        <p14:creationId xmlns:p14="http://schemas.microsoft.com/office/powerpoint/2010/main" val="196630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35BCB5-5262-0C2E-3BFA-8C6FEDAFF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3AC557-FF1E-DF69-D0C3-B2C7848D4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Nielsen — яркий пример того, как компания, начинавшая с измерения аудитории радио (100 лет назад!), превратилась в одного из ключевых глобальных поставщиков Big Data в сфере медиа и ритейла.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206928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704</Words>
  <Application>Microsoft Office PowerPoint</Application>
  <PresentationFormat>Широкоэкранный</PresentationFormat>
  <Paragraphs>73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quote-cjk-patch</vt:lpstr>
      <vt:lpstr>Тема Office</vt:lpstr>
      <vt:lpstr>Nielsen — глобальный поставщик данных и аналитики для медиарынка</vt:lpstr>
      <vt:lpstr>Название компании и год основания</vt:lpstr>
      <vt:lpstr>Скриншот сайта</vt:lpstr>
      <vt:lpstr>Что делает Nielsen? Основные направления деятельности и функции</vt:lpstr>
      <vt:lpstr>Ключевые цифры и масштаб</vt:lpstr>
      <vt:lpstr>Как Nielsen собирает Big Data?</vt:lpstr>
      <vt:lpstr>Качество информации: Оценка Nielsen как поставщика данных</vt:lpstr>
      <vt:lpstr>Структура сайта Nielsen</vt:lpstr>
      <vt:lpstr>Реклама</vt:lpstr>
      <vt:lpstr>Общее впечатление о компании и её базе данных</vt:lpstr>
      <vt:lpstr>Вывод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KOMPUTAR</dc:creator>
  <cp:lastModifiedBy>KOMPUTAR</cp:lastModifiedBy>
  <cp:revision>1</cp:revision>
  <dcterms:created xsi:type="dcterms:W3CDTF">2026-04-24T07:24:26Z</dcterms:created>
  <dcterms:modified xsi:type="dcterms:W3CDTF">2026-04-24T07:29:09Z</dcterms:modified>
</cp:coreProperties>
</file>