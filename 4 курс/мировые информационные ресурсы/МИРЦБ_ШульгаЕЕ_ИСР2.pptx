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4" autoAdjust="0"/>
    <p:restoredTop sz="94660"/>
  </p:normalViewPr>
  <p:slideViewPr>
    <p:cSldViewPr snapToGrid="0">
      <p:cViewPr varScale="1">
        <p:scale>
          <a:sx n="69" d="100"/>
          <a:sy n="69" d="100"/>
        </p:scale>
        <p:origin x="82" y="39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7C3953-F3A4-F467-ADE0-CC42AA0C24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0AB9376-68DB-567D-72DC-DF67979308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2F0CE50-E97D-D83A-2EA2-5EE1153AF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48FEB-0439-448D-B62B-DEA4BD24984E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BDEF7FD-1119-CADC-052F-A1CDEA32A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175342C-BDA0-05CC-C25A-74ECB86D5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4DBDF-0119-4B1C-8ED7-0F8F0F08E9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73164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982B2D-7C35-47B9-B4C7-CD4D9F239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3BB585E-A2C1-4DD7-E4E9-3A45FF472F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E0F8016-C9D1-5EEF-103A-3AD24BD53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48FEB-0439-448D-B62B-DEA4BD24984E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4B5BBCE-2096-1A9A-1874-C9CF88E21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A83D040-A5D2-4538-C65C-E2DE84EEF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4DBDF-0119-4B1C-8ED7-0F8F0F08E9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46188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59E80B-D263-B254-9741-3630DCA3B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748CF25-6845-FD83-CE1B-6EB4F4F9F1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ED75E93-A3B8-9E33-D5D7-8D0C81A4A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48FEB-0439-448D-B62B-DEA4BD24984E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D67892F-DC13-8FF0-96D8-BD8A1E77F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CA69BF7-EF29-1BA3-EC6F-C91764B67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4DBDF-0119-4B1C-8ED7-0F8F0F08E9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28463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B0BF88-44A0-7B62-F67A-3DD36B823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186F259-14B8-34BE-CE53-EC1B4E30DB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9B58851-DBC8-1C0F-0D11-94A1651F46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0F35F7F-86DB-988F-1395-B60939430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48FEB-0439-448D-B62B-DEA4BD24984E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CF6E891-4514-CD3C-AE53-D4E2A1D0E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63A4F63-0CA2-1D9B-55AA-81D97165A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4DBDF-0119-4B1C-8ED7-0F8F0F08E9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30096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BE438E-1B09-EF82-2B1D-3164A5EC9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E8498A5-B70A-1C57-EB70-D6544C7B83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BF7ED75-DEBA-6F5B-0E33-D0A3283369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12BE6A5-6E2B-48C8-C46B-AED297F66F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E734C99-C9C3-00F5-E359-195CC23606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CE1C328-C7F2-01D6-F5C0-11275F914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48FEB-0439-448D-B62B-DEA4BD24984E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C57D166-C15E-9787-01AE-7E53D53DD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173045A3-A9C8-EDAB-F8B5-A217198E2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4DBDF-0119-4B1C-8ED7-0F8F0F08E9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84967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343A4B-7406-7C46-B0B6-83802973F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ADD8475-5C03-D3C2-8C37-B78960F4A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48FEB-0439-448D-B62B-DEA4BD24984E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60A43EA-772D-9263-165A-D943F5FBE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E9E8C4E-8FE7-EAA0-51FE-C43B9ABF2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4DBDF-0119-4B1C-8ED7-0F8F0F08E9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2341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F9055A9-8A94-CEDC-43C2-2CCC1EB1C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48FEB-0439-448D-B62B-DEA4BD24984E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3A5473E3-9EE0-E29D-5C07-DD83F10CA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648EA1C-306B-E0E1-EB93-00A6DF0DE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4DBDF-0119-4B1C-8ED7-0F8F0F08E9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55233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E34365-40BC-A250-0479-A017F556E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DBC3079-B941-0EA4-EDA4-F661DFABF6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9B5139D-C12B-1B84-2142-92BA5E0AAF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1B4F871-C8F2-6129-B27A-2675A732F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48FEB-0439-448D-B62B-DEA4BD24984E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0E04694-69CE-24C6-A235-4FA3FBE3E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B4C4953-F6CB-ABD9-DC93-EF393BFE5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4DBDF-0119-4B1C-8ED7-0F8F0F08E9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97346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5A2300-FB97-B1AB-1CE0-F93F8AD02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4A657CC2-C5D6-15DE-5DCC-DDC4D8A77B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480C611-E53D-7F0A-267D-AA937526AA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27C45C2-7ABD-CCA7-6F53-0401CC811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48FEB-0439-448D-B62B-DEA4BD24984E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5C2BEB6-0AD5-9BAD-4D70-3D4218006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E342A5B-F77F-E1DB-5095-80FCDC9F2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4DBDF-0119-4B1C-8ED7-0F8F0F08E9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8240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F07453-2253-D2C8-883A-5CE8FD763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636C43B-4737-EC4F-9047-182C5D7857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80BC693-DC09-5841-D0A8-A35CD2FE2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48FEB-0439-448D-B62B-DEA4BD24984E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214F561-D43A-BCD4-CD51-4E21325D7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BBE0133-8E4D-C618-4582-1F4525F23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4DBDF-0119-4B1C-8ED7-0F8F0F08E9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7827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EDF97EDE-B45D-D4EC-0172-F58C44B90F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66AF845-531B-9F03-D52A-A8254278DB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685F1E8-2E0F-C1B2-7DE0-17BDE5741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48FEB-0439-448D-B62B-DEA4BD24984E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031E3BE-1E92-520B-B3CB-C8BB0225E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63B931C-7754-A7F7-EE0D-B68DD7265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4DBDF-0119-4B1C-8ED7-0F8F0F08E9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94362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819B9B-C29E-E21D-F185-599EC3540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F44A1E2-B665-2310-C344-C95EFC55FC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0E60B33-A038-0FDE-6DFC-11F3555A86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548FEB-0439-448D-B62B-DEA4BD24984E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ACB7616-C2E1-9ED1-0374-9BF91B7384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B719963-05F1-131F-028F-C97C0EF68D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44DBDF-0119-4B1C-8ED7-0F8F0F08E9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48583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C08600-7E54-33C9-A950-8591A88E0D0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Информационные ресурсы военных архивов. Портал «Память народа»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14D10F1-35E3-149D-4989-1E660240647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Шульга Евгений </a:t>
            </a:r>
            <a:r>
              <a:rPr lang="ru-RU" dirty="0" err="1"/>
              <a:t>Евгениевич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864040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6FEB05-4B31-0FA1-A718-9E2DF4B86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Портал «Память народа»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194522D-5731-C9E1-0DD2-C58BF36420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Название:</a:t>
            </a:r>
            <a:r>
              <a:rPr lang="en-US" dirty="0"/>
              <a:t> </a:t>
            </a:r>
            <a:r>
              <a:rPr lang="ru-RU" dirty="0"/>
              <a:t>Портал «Память народа»</a:t>
            </a:r>
            <a:r>
              <a:rPr lang="en-US" dirty="0"/>
              <a:t> </a:t>
            </a:r>
            <a:r>
              <a:rPr lang="ru-RU" dirty="0"/>
              <a:t>(электронный банк документов Министерства обороны Российской Федерации)</a:t>
            </a:r>
          </a:p>
          <a:p>
            <a:r>
              <a:rPr lang="ru-RU" dirty="0"/>
              <a:t>Год запуска:</a:t>
            </a:r>
            <a:r>
              <a:rPr lang="en-US" dirty="0"/>
              <a:t> </a:t>
            </a:r>
            <a:r>
              <a:rPr lang="ru-RU" dirty="0"/>
              <a:t>2015 год</a:t>
            </a:r>
            <a:r>
              <a:rPr lang="en-US" dirty="0"/>
              <a:t> </a:t>
            </a:r>
            <a:r>
              <a:rPr lang="ru-RU" dirty="0"/>
              <a:t>(объединил данные ОБД «Мемориал» и «Подвиг народа»)</a:t>
            </a:r>
          </a:p>
          <a:p>
            <a:r>
              <a:rPr lang="ru-RU" dirty="0"/>
              <a:t>URL:</a:t>
            </a:r>
            <a:r>
              <a:rPr lang="en-US" dirty="0"/>
              <a:t> </a:t>
            </a:r>
            <a:r>
              <a:rPr lang="ru-RU" dirty="0"/>
              <a:t>https://pamyat-naroda.ru</a:t>
            </a:r>
          </a:p>
          <a:p>
            <a:r>
              <a:rPr lang="ru-RU" dirty="0"/>
              <a:t>Город / страна:</a:t>
            </a:r>
            <a:r>
              <a:rPr lang="en-US" dirty="0"/>
              <a:t> </a:t>
            </a:r>
            <a:r>
              <a:rPr lang="ru-RU" dirty="0"/>
              <a:t>Россия, г. Москва (оператор — Минобороны РФ)</a:t>
            </a:r>
          </a:p>
        </p:txBody>
      </p:sp>
    </p:spTree>
    <p:extLst>
      <p:ext uri="{BB962C8B-B14F-4D97-AF65-F5344CB8AC3E}">
        <p14:creationId xmlns:p14="http://schemas.microsoft.com/office/powerpoint/2010/main" val="12740084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156DF8-E840-6A12-182F-A081839F9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Портал «Память народа»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3ED70E8B-2A4E-9C36-17FB-0C095B67E8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72648" y="1825625"/>
            <a:ext cx="10046703" cy="4351338"/>
          </a:xfrm>
        </p:spPr>
      </p:pic>
    </p:spTree>
    <p:extLst>
      <p:ext uri="{BB962C8B-B14F-4D97-AF65-F5344CB8AC3E}">
        <p14:creationId xmlns:p14="http://schemas.microsoft.com/office/powerpoint/2010/main" val="37291352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F2307A-7D0E-6696-9106-C7FF4F113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Основные направления деятельности и функции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B8F01F8-6BD0-D52D-EE58-34E0CED5B9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ru-RU" dirty="0"/>
              <a:t>Главная цель</a:t>
            </a:r>
            <a:endParaRPr lang="en-US" dirty="0"/>
          </a:p>
          <a:p>
            <a:r>
              <a:rPr lang="ru-RU" dirty="0"/>
              <a:t>Сохранить память о каждом участнике Великой Отечественной войны</a:t>
            </a:r>
          </a:p>
          <a:p>
            <a:r>
              <a:rPr lang="ru-RU" dirty="0"/>
              <a:t>и предоставить каждому гражданину достоверную архивную информацию о его родственниках.</a:t>
            </a:r>
          </a:p>
          <a:p>
            <a:endParaRPr lang="ru-RU" dirty="0"/>
          </a:p>
          <a:p>
            <a:pPr marL="0" indent="0">
              <a:buNone/>
            </a:pPr>
            <a:r>
              <a:rPr lang="ru-RU" dirty="0"/>
              <a:t>Основные функции портала:</a:t>
            </a:r>
          </a:p>
          <a:p>
            <a:r>
              <a:rPr lang="ru-RU" dirty="0"/>
              <a:t>Поиск человека по фамилии, году рождения, месту призыва, званию.</a:t>
            </a:r>
          </a:p>
          <a:p>
            <a:r>
              <a:rPr lang="ru-RU" dirty="0"/>
              <a:t>Боевой путь — восстановление маршрута воинской части.</a:t>
            </a:r>
          </a:p>
          <a:p>
            <a:r>
              <a:rPr lang="ru-RU" dirty="0"/>
              <a:t>Наградные документы — оцифрованные приказы и наградные листы.</a:t>
            </a:r>
          </a:p>
          <a:p>
            <a:r>
              <a:rPr lang="ru-RU" dirty="0"/>
              <a:t>Потери и госпитали — сведения о ранении, плене, захоронении.</a:t>
            </a:r>
          </a:p>
          <a:p>
            <a:r>
              <a:rPr lang="ru-RU" dirty="0"/>
              <a:t>Интерактивная карта боевых действий с хронологией.</a:t>
            </a:r>
          </a:p>
          <a:p>
            <a:r>
              <a:rPr lang="ru-RU" dirty="0"/>
              <a:t>«Память народа» – это единый архив цифровых документов ЦАМО (Подольск).</a:t>
            </a:r>
          </a:p>
        </p:txBody>
      </p:sp>
    </p:spTree>
    <p:extLst>
      <p:ext uri="{BB962C8B-B14F-4D97-AF65-F5344CB8AC3E}">
        <p14:creationId xmlns:p14="http://schemas.microsoft.com/office/powerpoint/2010/main" val="5085235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D85E69-9AD7-126B-2165-66C437B5A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Система управления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9F9643F-79E9-25C1-13F6-8D74A9A775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Оператор портала:</a:t>
            </a:r>
            <a:r>
              <a:rPr lang="en-US" dirty="0"/>
              <a:t> </a:t>
            </a:r>
            <a:r>
              <a:rPr lang="ru-RU" dirty="0"/>
              <a:t>Министерство обороны Российской Федерации</a:t>
            </a:r>
          </a:p>
          <a:p>
            <a:r>
              <a:rPr lang="ru-RU" dirty="0"/>
              <a:t>Научное сопровождение:</a:t>
            </a:r>
            <a:r>
              <a:rPr lang="en-US" dirty="0"/>
              <a:t> </a:t>
            </a:r>
            <a:r>
              <a:rPr lang="ru-RU" dirty="0"/>
              <a:t>Институт российской истории РАН</a:t>
            </a:r>
          </a:p>
          <a:p>
            <a:r>
              <a:rPr lang="ru-RU" dirty="0"/>
              <a:t>Технический оператор:</a:t>
            </a:r>
            <a:r>
              <a:rPr lang="en-US" dirty="0"/>
              <a:t> </a:t>
            </a:r>
            <a:r>
              <a:rPr lang="ru-RU" dirty="0"/>
              <a:t>ООО «Интеллектуальные информационные системы» (по госзаказу Минобороны)</a:t>
            </a:r>
          </a:p>
          <a:p>
            <a:r>
              <a:rPr lang="ru-RU" dirty="0"/>
              <a:t>Куратор с военной стороны:</a:t>
            </a:r>
            <a:r>
              <a:rPr lang="en-US" dirty="0"/>
              <a:t> </a:t>
            </a:r>
            <a:r>
              <a:rPr lang="ru-RU" dirty="0"/>
              <a:t>Управление Министерства обороны РФ по увековечению памяти погибших при защите Отечества</a:t>
            </a:r>
          </a:p>
        </p:txBody>
      </p:sp>
    </p:spTree>
    <p:extLst>
      <p:ext uri="{BB962C8B-B14F-4D97-AF65-F5344CB8AC3E}">
        <p14:creationId xmlns:p14="http://schemas.microsoft.com/office/powerpoint/2010/main" val="33308462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AD2EC3-8A9B-92EA-B2C8-CFC844755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Структура сайта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CE0533B-7994-9321-007A-15F56F7E83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Главная страница – строка поиска + последние новости.</a:t>
            </a:r>
          </a:p>
          <a:p>
            <a:r>
              <a:rPr lang="ru-RU" dirty="0"/>
              <a:t>Раздел «Герои войны» – персональные карточки бойцов.</a:t>
            </a:r>
          </a:p>
          <a:p>
            <a:r>
              <a:rPr lang="ru-RU" dirty="0"/>
              <a:t>Раздел «Боевой путь» – награды, документы части, геолокация.</a:t>
            </a:r>
          </a:p>
          <a:p>
            <a:r>
              <a:rPr lang="ru-RU" dirty="0"/>
              <a:t>Раздел «Поиск по карте» – места сражений, госпитали, захоронения.</a:t>
            </a:r>
          </a:p>
          <a:p>
            <a:r>
              <a:rPr lang="ru-RU" dirty="0"/>
              <a:t>Раздел «Библиотека» – оперативные сводки, журналы боевых действий.</a:t>
            </a:r>
          </a:p>
          <a:p>
            <a:r>
              <a:rPr lang="ru-RU" dirty="0"/>
              <a:t>«Помощь» – инструкция по поиску.</a:t>
            </a:r>
          </a:p>
        </p:txBody>
      </p:sp>
    </p:spTree>
    <p:extLst>
      <p:ext uri="{BB962C8B-B14F-4D97-AF65-F5344CB8AC3E}">
        <p14:creationId xmlns:p14="http://schemas.microsoft.com/office/powerpoint/2010/main" val="4929784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BA423B-37F5-B061-ABCE-C06AEE2C9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Пользователи сайта</a:t>
            </a: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5FB911D2-21ED-566E-162C-3C5CFB283C9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9242997"/>
              </p:ext>
            </p:extLst>
          </p:nvPr>
        </p:nvGraphicFramePr>
        <p:xfrm>
          <a:off x="2514600" y="2100104"/>
          <a:ext cx="7162800" cy="3802380"/>
        </p:xfrm>
        <a:graphic>
          <a:graphicData uri="http://schemas.openxmlformats.org/drawingml/2006/table">
            <a:tbl>
              <a:tblPr/>
              <a:tblGrid>
                <a:gridCol w="3581400">
                  <a:extLst>
                    <a:ext uri="{9D8B030D-6E8A-4147-A177-3AD203B41FA5}">
                      <a16:colId xmlns:a16="http://schemas.microsoft.com/office/drawing/2014/main" val="235601415"/>
                    </a:ext>
                  </a:extLst>
                </a:gridCol>
                <a:gridCol w="3581400">
                  <a:extLst>
                    <a:ext uri="{9D8B030D-6E8A-4147-A177-3AD203B41FA5}">
                      <a16:colId xmlns:a16="http://schemas.microsoft.com/office/drawing/2014/main" val="67819986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ru-RU" b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Портрет пользователя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Для чего использует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203457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b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Школьники, студенты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пишут проекты, рефераты о героях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996698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b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Потомки ветеранов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ищут родственников-фронтовиков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605266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b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Учителя истории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готовят «Уроки мужества»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487467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b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Учёные и краеведы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исследуют боевые пути частей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411498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b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Военные историки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работают с первоисточниками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794468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b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Журналисты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проверяют факты о войне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39992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57325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F756ED-6054-D178-2B48-E524ACD9C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Оценка качества информации</a:t>
            </a: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F48D742D-D00A-F3D0-5359-AABC15942F0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16095182"/>
              </p:ext>
            </p:extLst>
          </p:nvPr>
        </p:nvGraphicFramePr>
        <p:xfrm>
          <a:off x="3412104" y="1825626"/>
          <a:ext cx="5367792" cy="4351335"/>
        </p:xfrm>
        <a:graphic>
          <a:graphicData uri="http://schemas.openxmlformats.org/drawingml/2006/table">
            <a:tbl>
              <a:tblPr/>
              <a:tblGrid>
                <a:gridCol w="1789264">
                  <a:extLst>
                    <a:ext uri="{9D8B030D-6E8A-4147-A177-3AD203B41FA5}">
                      <a16:colId xmlns:a16="http://schemas.microsoft.com/office/drawing/2014/main" val="3655125153"/>
                    </a:ext>
                  </a:extLst>
                </a:gridCol>
                <a:gridCol w="1789264">
                  <a:extLst>
                    <a:ext uri="{9D8B030D-6E8A-4147-A177-3AD203B41FA5}">
                      <a16:colId xmlns:a16="http://schemas.microsoft.com/office/drawing/2014/main" val="1738142935"/>
                    </a:ext>
                  </a:extLst>
                </a:gridCol>
                <a:gridCol w="1789264">
                  <a:extLst>
                    <a:ext uri="{9D8B030D-6E8A-4147-A177-3AD203B41FA5}">
                      <a16:colId xmlns:a16="http://schemas.microsoft.com/office/drawing/2014/main" val="1973411307"/>
                    </a:ext>
                  </a:extLst>
                </a:gridCol>
              </a:tblGrid>
              <a:tr h="348335">
                <a:tc>
                  <a:txBody>
                    <a:bodyPr/>
                    <a:lstStyle/>
                    <a:p>
                      <a:pPr algn="l"/>
                      <a:r>
                        <a:rPr lang="ru-RU" sz="1300" b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Критерий</a:t>
                      </a:r>
                    </a:p>
                  </a:txBody>
                  <a:tcPr marL="68525" marR="114208" marT="71380" marB="713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300" b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Оценка</a:t>
                      </a:r>
                    </a:p>
                  </a:txBody>
                  <a:tcPr marL="114208" marR="114208" marT="71380" marB="713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300" b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Пояснение</a:t>
                      </a:r>
                    </a:p>
                  </a:txBody>
                  <a:tcPr marL="114208" marR="114208" marT="71380" marB="713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5056606"/>
                  </a:ext>
                </a:extLst>
              </a:tr>
              <a:tr h="965060">
                <a:tc>
                  <a:txBody>
                    <a:bodyPr/>
                    <a:lstStyle/>
                    <a:p>
                      <a:r>
                        <a:rPr lang="ru-RU" sz="1300" b="1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Актуальность</a:t>
                      </a:r>
                      <a:endParaRPr lang="ru-RU" sz="1300" b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L="68525" marR="114208" marT="71380" marB="713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00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 высокая</a:t>
                      </a:r>
                    </a:p>
                  </a:txBody>
                  <a:tcPr marL="114208" marR="114208" marT="71380" marB="713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00" b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данные постоянно пополняются из ЦАМО (оцифровка идёт)</a:t>
                      </a:r>
                    </a:p>
                  </a:txBody>
                  <a:tcPr marL="114208" marR="68525" marT="71380" marB="713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2545748"/>
                  </a:ext>
                </a:extLst>
              </a:tr>
              <a:tr h="965060">
                <a:tc>
                  <a:txBody>
                    <a:bodyPr/>
                    <a:lstStyle/>
                    <a:p>
                      <a:r>
                        <a:rPr lang="ru-RU" sz="1300" b="1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Достоверность</a:t>
                      </a:r>
                      <a:endParaRPr lang="ru-RU" sz="1300" b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L="68525" marR="114208" marT="71380" marB="713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00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очень высокая</a:t>
                      </a:r>
                    </a:p>
                  </a:txBody>
                  <a:tcPr marL="114208" marR="114208" marT="71380" marB="713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00" b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первоисточник – </a:t>
                      </a:r>
                      <a:r>
                        <a:rPr lang="ru-RU" sz="1300" b="1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архивные документы</a:t>
                      </a:r>
                      <a:r>
                        <a:rPr lang="ru-RU" sz="1300" b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 (не пересказы)</a:t>
                      </a:r>
                    </a:p>
                  </a:txBody>
                  <a:tcPr marL="114208" marR="68525" marT="71380" marB="713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3196423"/>
                  </a:ext>
                </a:extLst>
              </a:tr>
              <a:tr h="759485">
                <a:tc>
                  <a:txBody>
                    <a:bodyPr/>
                    <a:lstStyle/>
                    <a:p>
                      <a:r>
                        <a:rPr lang="ru-RU" sz="1300" b="1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Полнота</a:t>
                      </a:r>
                      <a:endParaRPr lang="ru-RU" sz="1300" b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L="68525" marR="114208" marT="71380" marB="713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00" b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очень высокая</a:t>
                      </a:r>
                    </a:p>
                  </a:txBody>
                  <a:tcPr marL="114208" marR="114208" marT="71380" marB="713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00" b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более </a:t>
                      </a:r>
                      <a:r>
                        <a:rPr lang="ru-RU" sz="1300" b="1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40 млн записей</a:t>
                      </a:r>
                      <a:r>
                        <a:rPr lang="ru-RU" sz="1300" b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, карты, госпитали, награды</a:t>
                      </a:r>
                    </a:p>
                  </a:txBody>
                  <a:tcPr marL="114208" marR="68525" marT="71380" marB="713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708252"/>
                  </a:ext>
                </a:extLst>
              </a:tr>
              <a:tr h="759485">
                <a:tc>
                  <a:txBody>
                    <a:bodyPr/>
                    <a:lstStyle/>
                    <a:p>
                      <a:r>
                        <a:rPr lang="ru-RU" sz="1300" b="1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Объективность</a:t>
                      </a:r>
                      <a:endParaRPr lang="ru-RU" sz="1300" b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L="68525" marR="114208" marT="71380" marB="713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00" b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высокая</a:t>
                      </a:r>
                    </a:p>
                  </a:txBody>
                  <a:tcPr marL="114208" marR="114208" marT="71380" marB="713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00" b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документы времён войны – не редактируются</a:t>
                      </a:r>
                    </a:p>
                  </a:txBody>
                  <a:tcPr marL="114208" marR="68525" marT="71380" marB="713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9651202"/>
                  </a:ext>
                </a:extLst>
              </a:tr>
              <a:tr h="553910">
                <a:tc>
                  <a:txBody>
                    <a:bodyPr/>
                    <a:lstStyle/>
                    <a:p>
                      <a:r>
                        <a:rPr lang="ru-RU" sz="1300" b="1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Доступность</a:t>
                      </a:r>
                      <a:endParaRPr lang="ru-RU" sz="1300" b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L="68525" marR="114208" marT="71380" marB="713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00" b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полная</a:t>
                      </a:r>
                    </a:p>
                  </a:txBody>
                  <a:tcPr marL="114208" marR="114208" marT="71380" marB="713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00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бесплатно, без СМС, без пароля</a:t>
                      </a:r>
                    </a:p>
                  </a:txBody>
                  <a:tcPr marL="114208" marR="68525" marT="71380" marB="713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90390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16310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CA28D5-C0F1-B0EF-B37F-1A53AE743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Расположение (город, страна)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183D6D4-71EF-4503-A68A-9D81B95FB7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Физическое размещение серверов и оператора:</a:t>
            </a:r>
          </a:p>
          <a:p>
            <a:r>
              <a:rPr lang="ru-RU" dirty="0"/>
              <a:t>Россия, г. Москва</a:t>
            </a:r>
          </a:p>
          <a:p>
            <a:endParaRPr lang="ru-RU" dirty="0"/>
          </a:p>
          <a:p>
            <a:pPr marL="0" indent="0">
              <a:buNone/>
            </a:pPr>
            <a:r>
              <a:rPr lang="ru-RU" dirty="0"/>
              <a:t>Хранилище документов-источников:</a:t>
            </a:r>
          </a:p>
          <a:p>
            <a:r>
              <a:rPr lang="ru-RU" dirty="0"/>
              <a:t>Центральный архив Министерства обороны</a:t>
            </a:r>
          </a:p>
          <a:p>
            <a:r>
              <a:rPr lang="ru-RU" dirty="0"/>
              <a:t>(г. Подольск, Московская область)</a:t>
            </a:r>
          </a:p>
          <a:p>
            <a:endParaRPr lang="ru-RU" dirty="0"/>
          </a:p>
          <a:p>
            <a:r>
              <a:rPr lang="ru-RU" dirty="0"/>
              <a:t>Доступ к порталу – из любой точки мира (интернет).</a:t>
            </a:r>
          </a:p>
        </p:txBody>
      </p:sp>
    </p:spTree>
    <p:extLst>
      <p:ext uri="{BB962C8B-B14F-4D97-AF65-F5344CB8AC3E}">
        <p14:creationId xmlns:p14="http://schemas.microsoft.com/office/powerpoint/2010/main" val="38448903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E0F59B-3785-789A-B943-ACFDB7982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Наличие рекламы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DF803E-5287-55ED-A1F6-7371194547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ru-RU" dirty="0"/>
              <a:t>Рекламы на портале «Память народа» НЕТ.</a:t>
            </a:r>
          </a:p>
          <a:p>
            <a:endParaRPr lang="ru-RU" dirty="0"/>
          </a:p>
          <a:p>
            <a:r>
              <a:rPr lang="ru-RU" dirty="0"/>
              <a:t> Нет баннеров</a:t>
            </a:r>
          </a:p>
          <a:p>
            <a:r>
              <a:rPr lang="ru-RU" dirty="0"/>
              <a:t>Нет коммерческих объявлений</a:t>
            </a:r>
          </a:p>
          <a:p>
            <a:r>
              <a:rPr lang="ru-RU" dirty="0"/>
              <a:t>Нет всплывающих окон</a:t>
            </a:r>
          </a:p>
          <a:p>
            <a:r>
              <a:rPr lang="ru-RU" dirty="0"/>
              <a:t>Нет партнёрских ссылок</a:t>
            </a:r>
          </a:p>
          <a:p>
            <a:endParaRPr lang="ru-RU" dirty="0"/>
          </a:p>
          <a:p>
            <a:r>
              <a:rPr lang="ru-RU" dirty="0"/>
              <a:t>Это государственный мемориальный ресурс, а не коммерческий проект.</a:t>
            </a:r>
          </a:p>
          <a:p>
            <a:r>
              <a:rPr lang="ru-RU" dirty="0"/>
              <a:t>Единственное, что иногда напоминает «рекламу» – призывы Минобороны передать семейные документы в архив (социальный проект).</a:t>
            </a:r>
          </a:p>
        </p:txBody>
      </p:sp>
    </p:spTree>
    <p:extLst>
      <p:ext uri="{BB962C8B-B14F-4D97-AF65-F5344CB8AC3E}">
        <p14:creationId xmlns:p14="http://schemas.microsoft.com/office/powerpoint/2010/main" val="35439168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66ED1E-0605-CB63-028F-8EC234A8F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Общее впечатление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1E002CF-904A-D0DB-BEAC-0D4B5185D3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ru-RU" dirty="0"/>
              <a:t>Плюсы:</a:t>
            </a:r>
          </a:p>
          <a:p>
            <a:r>
              <a:rPr lang="ru-RU" dirty="0"/>
              <a:t>очень удобный поиск даже для неподготовленного пользователя</a:t>
            </a:r>
          </a:p>
          <a:p>
            <a:r>
              <a:rPr lang="ru-RU" dirty="0"/>
              <a:t>информация выгружается с подлинников архивных документов</a:t>
            </a:r>
          </a:p>
          <a:p>
            <a:r>
              <a:rPr lang="ru-RU" dirty="0"/>
              <a:t>есть наглядная карта боевого пути солдата</a:t>
            </a:r>
          </a:p>
          <a:p>
            <a:r>
              <a:rPr lang="ru-RU" dirty="0"/>
              <a:t>не требует регистрации</a:t>
            </a:r>
          </a:p>
          <a:p>
            <a:r>
              <a:rPr lang="ru-RU" dirty="0"/>
              <a:t>позволяет достоверно восстановить события 1941–1945 годов</a:t>
            </a:r>
          </a:p>
          <a:p>
            <a:r>
              <a:rPr lang="ru-RU" dirty="0"/>
              <a:t>вызывает глубокое уважение и эмоциональный отклик</a:t>
            </a:r>
          </a:p>
          <a:p>
            <a:pPr marL="0" indent="0">
              <a:buNone/>
            </a:pPr>
            <a:r>
              <a:rPr lang="ru-RU" dirty="0"/>
              <a:t> Нюансы:</a:t>
            </a:r>
          </a:p>
          <a:p>
            <a:r>
              <a:rPr lang="ru-RU" dirty="0"/>
              <a:t>иногда встречаются опечатки в расшифровке фамилий (трудности почерка 1940-х)</a:t>
            </a:r>
          </a:p>
          <a:p>
            <a:r>
              <a:rPr lang="ru-RU" dirty="0"/>
              <a:t>не для всех бойцов известна точная дата рождения</a:t>
            </a:r>
          </a:p>
          <a:p>
            <a:pPr marL="0" indent="0">
              <a:buNone/>
            </a:pPr>
            <a:r>
              <a:rPr lang="ru-RU" dirty="0"/>
              <a:t>Лучший военный архив в открытом доступе в России и один из лучших в мире.</a:t>
            </a:r>
          </a:p>
        </p:txBody>
      </p:sp>
    </p:spTree>
    <p:extLst>
      <p:ext uri="{BB962C8B-B14F-4D97-AF65-F5344CB8AC3E}">
        <p14:creationId xmlns:p14="http://schemas.microsoft.com/office/powerpoint/2010/main" val="9284261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3D1B44-3F93-42AF-29E7-BABBA298C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Источники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30A297E-F5F6-A813-55DB-B2632DA108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/>
              <a:t>Официальный портал «Память народа»</a:t>
            </a:r>
          </a:p>
          <a:p>
            <a:pPr marL="0" indent="0">
              <a:buNone/>
            </a:pPr>
            <a:r>
              <a:rPr lang="ru-RU" dirty="0"/>
              <a:t>https://pamyat-naroda.ru – разделы «О проекте», «Справка», «Документы»</a:t>
            </a:r>
          </a:p>
          <a:p>
            <a:endParaRPr lang="ru-RU" dirty="0"/>
          </a:p>
          <a:p>
            <a:r>
              <a:rPr lang="ru-RU" dirty="0"/>
              <a:t>Центральный архив Минобороны России (ЦАМО)</a:t>
            </a:r>
          </a:p>
          <a:p>
            <a:pPr marL="0" indent="0">
              <a:buNone/>
            </a:pPr>
            <a:r>
              <a:rPr lang="ru-RU" dirty="0"/>
              <a:t>Сведения об оцифровке фондов</a:t>
            </a:r>
          </a:p>
          <a:p>
            <a:endParaRPr lang="ru-RU" dirty="0"/>
          </a:p>
          <a:p>
            <a:r>
              <a:rPr lang="ru-RU" dirty="0"/>
              <a:t>Министерство обороны РФ</a:t>
            </a:r>
          </a:p>
          <a:p>
            <a:pPr marL="0" indent="0">
              <a:buNone/>
            </a:pPr>
            <a:r>
              <a:rPr lang="ru-RU" dirty="0"/>
              <a:t>Приказы о создании портала</a:t>
            </a:r>
          </a:p>
          <a:p>
            <a:endParaRPr lang="ru-RU" dirty="0"/>
          </a:p>
          <a:p>
            <a:r>
              <a:rPr lang="ru-RU" dirty="0"/>
              <a:t>Институт российской истории РАН</a:t>
            </a:r>
          </a:p>
          <a:p>
            <a:pPr marL="0" indent="0">
              <a:buNone/>
            </a:pPr>
            <a:r>
              <a:rPr lang="ru-RU" dirty="0"/>
              <a:t>Данные о научном сопровождении ресурса</a:t>
            </a:r>
          </a:p>
        </p:txBody>
      </p:sp>
    </p:spTree>
    <p:extLst>
      <p:ext uri="{BB962C8B-B14F-4D97-AF65-F5344CB8AC3E}">
        <p14:creationId xmlns:p14="http://schemas.microsoft.com/office/powerpoint/2010/main" val="138618024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611</Words>
  <Application>Microsoft Office PowerPoint</Application>
  <PresentationFormat>Широкоэкранный</PresentationFormat>
  <Paragraphs>109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quote-cjk-patch</vt:lpstr>
      <vt:lpstr>Тема Office</vt:lpstr>
      <vt:lpstr>Информационные ресурсы военных архивов. Портал «Память народа»</vt:lpstr>
      <vt:lpstr>Портал «Память народа»</vt:lpstr>
      <vt:lpstr>Портал «Память народа»</vt:lpstr>
      <vt:lpstr>Основные направления деятельности и функции </vt:lpstr>
      <vt:lpstr>Система управления</vt:lpstr>
      <vt:lpstr>Структура сайта</vt:lpstr>
      <vt:lpstr>Пользователи сайта</vt:lpstr>
      <vt:lpstr>Оценка качества информации</vt:lpstr>
      <vt:lpstr>Расположение (город, страна)</vt:lpstr>
      <vt:lpstr>Наличие рекламы</vt:lpstr>
      <vt:lpstr>Общее впечатление</vt:lpstr>
      <vt:lpstr>Источники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KOMPUTAR</dc:creator>
  <cp:lastModifiedBy>KOMPUTAR</cp:lastModifiedBy>
  <cp:revision>1</cp:revision>
  <dcterms:created xsi:type="dcterms:W3CDTF">2026-04-24T06:56:39Z</dcterms:created>
  <dcterms:modified xsi:type="dcterms:W3CDTF">2026-04-24T07:09:47Z</dcterms:modified>
</cp:coreProperties>
</file>